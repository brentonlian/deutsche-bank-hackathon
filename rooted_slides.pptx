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61" r:id="rId4"/>
    <p:sldId id="263" r:id="rId5"/>
    <p:sldId id="266"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76" d="100"/>
          <a:sy n="76" d="100"/>
        </p:scale>
        <p:origin x="272" y="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7496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30 seconds. Rooted turns general money advice into education grounded in country, language and life stage. The visual identity is a transit line: decisions are stations, and a better path is the green express line.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40 seconds. The product adapts to countries and age groups rather than assuming one default financial system. It considers local protections and scams, translates the learning experience, and uses country-specific examples rather than unsupported generic advice.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80 seconds. This full-slide vector diagram is the supplied architecture-mvp.svg. Left: user browser contains the profile, learning line, game, localized UI and browser storage. Center: Next.js serves static shell and a validated lesson endpoint with cache/fallback. Right: provider adapter. Bottom: schema-validated Git JSON content, build-time pipelines and CI. Vertex AI in the EU is explicitly a production target, not deployed in the MVP.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85 seconds. This is the supplied vector data-flow.svg. Four lanes: A onboarding stays in browser; B lessons send only topic, country, language, age group and simple-mode settings to the server; C Life Path runs fully client side; D country-pack content, translations and tests are prepared in Git and reviewed. Explicitly note that personal financial values do not get sent with lesson requests.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50 seconds. Separate MVP and production carefully. The current MVP has no accounts, local user data, Zod validation, source-dated packs and saved lessons. The production roadmap includes EU residency, zero trust, encryption, observability, human reviews and regulatory mapping including GDPR, DORA, EU AI Act and accessibility. These are intended goals, not deployed systems.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12191970" cy="109728"/>
          </a:xfrm>
          <a:prstGeom prst="roundRect">
            <a:avLst>
              <a:gd name="adj" fmla="val 50000"/>
            </a:avLst>
          </a:prstGeom>
          <a:solidFill>
            <a:srgbClr val="127A4B"/>
          </a:solidFill>
          <a:ln w="12700">
            <a:solidFill>
              <a:srgbClr val="127A4B">
                <a:alpha val="0"/>
              </a:srgbClr>
            </a:solidFill>
            <a:prstDash val="solid"/>
          </a:ln>
        </p:spPr>
        <p:txBody>
          <a:bodyPr/>
          <a:lstStyle/>
          <a:p>
            <a:endParaRPr lang="en-US"/>
          </a:p>
        </p:txBody>
      </p:sp>
      <p:sp>
        <p:nvSpPr>
          <p:cNvPr id="4" name="Text 2"/>
          <p:cNvSpPr/>
          <p:nvPr/>
        </p:nvSpPr>
        <p:spPr>
          <a:xfrm>
            <a:off x="640080" y="1197864"/>
            <a:ext cx="7772400" cy="1042416"/>
          </a:xfrm>
          <a:prstGeom prst="rect">
            <a:avLst/>
          </a:prstGeom>
          <a:noFill/>
          <a:ln/>
        </p:spPr>
        <p:txBody>
          <a:bodyPr wrap="square" lIns="0" tIns="0" rIns="0" bIns="0" rtlCol="0" anchor="ctr">
            <a:normAutofit/>
          </a:bodyPr>
          <a:lstStyle/>
          <a:p>
            <a:pPr marL="0" indent="0" algn="l">
              <a:buNone/>
            </a:pPr>
            <a:r>
              <a:rPr lang="en-US" sz="6200" b="1" dirty="0">
                <a:solidFill>
                  <a:srgbClr val="FFFFFF"/>
                </a:solidFill>
                <a:latin typeface="Atkinson Hyperlegible Next" pitchFamily="34" charset="0"/>
                <a:ea typeface="Atkinson Hyperlegible Next" pitchFamily="34" charset="-122"/>
                <a:cs typeface="Atkinson Hyperlegible Next" pitchFamily="34" charset="-120"/>
              </a:rPr>
              <a:t>Rooted</a:t>
            </a:r>
            <a:endParaRPr lang="en-US" sz="6200" dirty="0"/>
          </a:p>
        </p:txBody>
      </p:sp>
      <p:sp>
        <p:nvSpPr>
          <p:cNvPr id="5" name="Text 3"/>
          <p:cNvSpPr/>
          <p:nvPr/>
        </p:nvSpPr>
        <p:spPr>
          <a:xfrm>
            <a:off x="667512" y="2432304"/>
            <a:ext cx="9326880" cy="987552"/>
          </a:xfrm>
          <a:prstGeom prst="rect">
            <a:avLst/>
          </a:prstGeom>
          <a:noFill/>
          <a:ln/>
        </p:spPr>
        <p:txBody>
          <a:bodyPr wrap="square" lIns="0" tIns="0" rIns="0" bIns="0" rtlCol="0" anchor="ctr">
            <a:normAutofit/>
          </a:bodyPr>
          <a:lstStyle/>
          <a:p>
            <a:pPr marL="0" indent="0" algn="l">
              <a:buNone/>
            </a:pPr>
            <a:r>
              <a:rPr lang="en-US" sz="2700" b="1" dirty="0">
                <a:solidFill>
                  <a:srgbClr val="FFFFFF"/>
                </a:solidFill>
                <a:latin typeface="Atkinson Hyperlegible Next" pitchFamily="34" charset="0"/>
                <a:ea typeface="Atkinson Hyperlegible Next" pitchFamily="34" charset="-122"/>
                <a:cs typeface="Atkinson Hyperlegible Next" pitchFamily="34" charset="-120"/>
              </a:rPr>
              <a:t>Financial education that speaks your language—and knows your world.</a:t>
            </a:r>
            <a:endParaRPr lang="en-US" sz="2700" dirty="0"/>
          </a:p>
        </p:txBody>
      </p:sp>
      <p:sp>
        <p:nvSpPr>
          <p:cNvPr id="6" name="Text 4"/>
          <p:cNvSpPr/>
          <p:nvPr/>
        </p:nvSpPr>
        <p:spPr>
          <a:xfrm>
            <a:off x="685800" y="3703320"/>
            <a:ext cx="8229600" cy="329184"/>
          </a:xfrm>
          <a:prstGeom prst="rect">
            <a:avLst/>
          </a:prstGeom>
          <a:noFill/>
          <a:ln/>
        </p:spPr>
        <p:txBody>
          <a:bodyPr wrap="square" lIns="0" tIns="0" rIns="0" bIns="0" rtlCol="0" anchor="ctr">
            <a:normAutofit/>
          </a:bodyPr>
          <a:lstStyle/>
          <a:p>
            <a:pPr marL="0" indent="0" algn="l">
              <a:buNone/>
            </a:pPr>
            <a:r>
              <a:rPr lang="en-US" sz="1500" dirty="0">
                <a:solidFill>
                  <a:srgbClr val="C2CFD8"/>
                </a:solidFill>
                <a:latin typeface="Atkinson Hyperlegible Next" pitchFamily="34" charset="0"/>
                <a:ea typeface="Atkinson Hyperlegible Next" pitchFamily="34" charset="-122"/>
                <a:cs typeface="Atkinson Hyperlegible Next" pitchFamily="34" charset="-120"/>
              </a:rPr>
              <a:t>Localized financial education  /  Innovate with DB 2026</a:t>
            </a:r>
            <a:endParaRPr lang="en-US" sz="1500" dirty="0"/>
          </a:p>
        </p:txBody>
      </p:sp>
      <p:sp>
        <p:nvSpPr>
          <p:cNvPr id="7" name="Shape 5"/>
          <p:cNvSpPr/>
          <p:nvPr/>
        </p:nvSpPr>
        <p:spPr>
          <a:xfrm>
            <a:off x="832104" y="5065776"/>
            <a:ext cx="10506456" cy="0"/>
          </a:xfrm>
          <a:prstGeom prst="line">
            <a:avLst/>
          </a:prstGeom>
          <a:noFill/>
          <a:ln w="114300">
            <a:solidFill>
              <a:srgbClr val="718199"/>
            </a:solidFill>
            <a:prstDash val="solid"/>
          </a:ln>
        </p:spPr>
        <p:txBody>
          <a:bodyPr/>
          <a:lstStyle/>
          <a:p>
            <a:endParaRPr lang="en-US"/>
          </a:p>
        </p:txBody>
      </p:sp>
      <p:sp>
        <p:nvSpPr>
          <p:cNvPr id="8" name="Shape 6"/>
          <p:cNvSpPr/>
          <p:nvPr/>
        </p:nvSpPr>
        <p:spPr>
          <a:xfrm>
            <a:off x="5074920" y="5065776"/>
            <a:ext cx="2121408" cy="0"/>
          </a:xfrm>
          <a:prstGeom prst="line">
            <a:avLst/>
          </a:prstGeom>
          <a:noFill/>
          <a:ln w="114300">
            <a:solidFill>
              <a:srgbClr val="127A4B"/>
            </a:solidFill>
            <a:prstDash val="solid"/>
          </a:ln>
        </p:spPr>
        <p:txBody>
          <a:bodyPr/>
          <a:lstStyle/>
          <a:p>
            <a:endParaRPr lang="en-US"/>
          </a:p>
        </p:txBody>
      </p:sp>
      <p:sp>
        <p:nvSpPr>
          <p:cNvPr id="11" name="Shape 9"/>
          <p:cNvSpPr/>
          <p:nvPr/>
        </p:nvSpPr>
        <p:spPr>
          <a:xfrm>
            <a:off x="4942332" y="4933188"/>
            <a:ext cx="265176" cy="265176"/>
          </a:xfrm>
          <a:prstGeom prst="ellipse">
            <a:avLst/>
          </a:prstGeom>
          <a:solidFill>
            <a:srgbClr val="F2F3F0"/>
          </a:solidFill>
          <a:ln w="50800">
            <a:solidFill>
              <a:srgbClr val="127A4B"/>
            </a:solidFill>
            <a:prstDash val="solid"/>
          </a:ln>
        </p:spPr>
        <p:txBody>
          <a:bodyPr/>
          <a:lstStyle/>
          <a:p>
            <a:endParaRPr lang="en-US"/>
          </a:p>
        </p:txBody>
      </p:sp>
      <p:sp>
        <p:nvSpPr>
          <p:cNvPr id="12" name="Shape 10"/>
          <p:cNvSpPr/>
          <p:nvPr/>
        </p:nvSpPr>
        <p:spPr>
          <a:xfrm>
            <a:off x="7063740" y="4933188"/>
            <a:ext cx="265176" cy="265176"/>
          </a:xfrm>
          <a:prstGeom prst="ellipse">
            <a:avLst/>
          </a:prstGeom>
          <a:solidFill>
            <a:srgbClr val="F2F3F0"/>
          </a:solidFill>
          <a:ln w="50800">
            <a:solidFill>
              <a:srgbClr val="127A4B"/>
            </a:solidFill>
            <a:prstDash val="solid"/>
          </a:ln>
        </p:spPr>
        <p:txBody>
          <a:bodyPr/>
          <a:lstStyle/>
          <a:p>
            <a:endParaRPr lang="en-US"/>
          </a:p>
        </p:txBody>
      </p:sp>
      <p:sp>
        <p:nvSpPr>
          <p:cNvPr id="15" name="Text 13"/>
          <p:cNvSpPr/>
          <p:nvPr/>
        </p:nvSpPr>
        <p:spPr>
          <a:xfrm>
            <a:off x="374904"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Context</a:t>
            </a:r>
            <a:endParaRPr lang="en-US" sz="1000" dirty="0"/>
          </a:p>
        </p:txBody>
      </p:sp>
      <p:sp>
        <p:nvSpPr>
          <p:cNvPr id="16" name="Text 14"/>
          <p:cNvSpPr/>
          <p:nvPr/>
        </p:nvSpPr>
        <p:spPr>
          <a:xfrm>
            <a:off x="2496312"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Learn</a:t>
            </a:r>
            <a:endParaRPr lang="en-US" sz="1000" dirty="0"/>
          </a:p>
        </p:txBody>
      </p:sp>
      <p:sp>
        <p:nvSpPr>
          <p:cNvPr id="17" name="Text 15"/>
          <p:cNvSpPr/>
          <p:nvPr/>
        </p:nvSpPr>
        <p:spPr>
          <a:xfrm>
            <a:off x="4617720"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Practice</a:t>
            </a:r>
            <a:endParaRPr lang="en-US" sz="1000" dirty="0"/>
          </a:p>
        </p:txBody>
      </p:sp>
      <p:sp>
        <p:nvSpPr>
          <p:cNvPr id="18" name="Text 16"/>
          <p:cNvSpPr/>
          <p:nvPr/>
        </p:nvSpPr>
        <p:spPr>
          <a:xfrm>
            <a:off x="6739128"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Decide</a:t>
            </a:r>
            <a:endParaRPr lang="en-US" sz="1000" dirty="0"/>
          </a:p>
        </p:txBody>
      </p:sp>
      <p:sp>
        <p:nvSpPr>
          <p:cNvPr id="19" name="Text 17"/>
          <p:cNvSpPr/>
          <p:nvPr/>
        </p:nvSpPr>
        <p:spPr>
          <a:xfrm>
            <a:off x="8869680"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Compare</a:t>
            </a:r>
            <a:endParaRPr lang="en-US" sz="1000" dirty="0"/>
          </a:p>
        </p:txBody>
      </p:sp>
      <p:sp>
        <p:nvSpPr>
          <p:cNvPr id="20" name="Text 18"/>
          <p:cNvSpPr/>
          <p:nvPr/>
        </p:nvSpPr>
        <p:spPr>
          <a:xfrm>
            <a:off x="10899648"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Replay</a:t>
            </a:r>
            <a:endParaRPr lang="en-US" sz="1000" dirty="0"/>
          </a:p>
        </p:txBody>
      </p:sp>
      <p:sp>
        <p:nvSpPr>
          <p:cNvPr id="21" name="Text 19"/>
          <p:cNvSpPr/>
          <p:nvPr/>
        </p:nvSpPr>
        <p:spPr>
          <a:xfrm>
            <a:off x="676656" y="6080760"/>
            <a:ext cx="7315200" cy="210312"/>
          </a:xfrm>
          <a:prstGeom prst="rect">
            <a:avLst/>
          </a:prstGeom>
          <a:noFill/>
          <a:ln/>
        </p:spPr>
        <p:txBody>
          <a:bodyPr wrap="square" lIns="0" tIns="0" rIns="0" bIns="0" rtlCol="0" anchor="ctr">
            <a:normAutofit/>
          </a:bodyPr>
          <a:lstStyle/>
          <a:p>
            <a:pPr marL="0" indent="0" algn="l">
              <a:buNone/>
            </a:pPr>
            <a:r>
              <a:rPr lang="en-US" sz="1100" b="1" kern="0" spc="170" dirty="0">
                <a:solidFill>
                  <a:srgbClr val="D3DFE8"/>
                </a:solidFill>
                <a:latin typeface="Atkinson Hyperlegible Next" pitchFamily="34" charset="0"/>
                <a:ea typeface="Atkinson Hyperlegible Next" pitchFamily="34" charset="-122"/>
                <a:cs typeface="Atkinson Hyperlegible Next" pitchFamily="34" charset="-120"/>
              </a:rPr>
              <a:t>ONE LEARNING LINE · MANY LOCAL REALITIES</a:t>
            </a:r>
            <a:endParaRPr lang="en-US" sz="1100" dirty="0"/>
          </a:p>
        </p:txBody>
      </p:sp>
      <p:sp>
        <p:nvSpPr>
          <p:cNvPr id="27" name="Shape 6">
            <a:extLst>
              <a:ext uri="{FF2B5EF4-FFF2-40B4-BE49-F238E27FC236}">
                <a16:creationId xmlns:a16="http://schemas.microsoft.com/office/drawing/2014/main" id="{AD32F417-37B8-DB3D-972D-FA20D140D541}"/>
              </a:ext>
            </a:extLst>
          </p:cNvPr>
          <p:cNvSpPr/>
          <p:nvPr/>
        </p:nvSpPr>
        <p:spPr>
          <a:xfrm>
            <a:off x="2953512" y="5047487"/>
            <a:ext cx="2121408" cy="0"/>
          </a:xfrm>
          <a:prstGeom prst="line">
            <a:avLst/>
          </a:prstGeom>
          <a:noFill/>
          <a:ln w="114300">
            <a:solidFill>
              <a:srgbClr val="127A4B"/>
            </a:solidFill>
            <a:prstDash val="solid"/>
          </a:ln>
        </p:spPr>
        <p:txBody>
          <a:bodyPr/>
          <a:lstStyle/>
          <a:p>
            <a:endParaRPr lang="en-US"/>
          </a:p>
        </p:txBody>
      </p:sp>
      <p:sp>
        <p:nvSpPr>
          <p:cNvPr id="29" name="Shape 9">
            <a:extLst>
              <a:ext uri="{FF2B5EF4-FFF2-40B4-BE49-F238E27FC236}">
                <a16:creationId xmlns:a16="http://schemas.microsoft.com/office/drawing/2014/main" id="{B16EE08A-63F8-E6F4-596D-6689DAAD3DC5}"/>
              </a:ext>
            </a:extLst>
          </p:cNvPr>
          <p:cNvSpPr/>
          <p:nvPr/>
        </p:nvSpPr>
        <p:spPr>
          <a:xfrm>
            <a:off x="2820924"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31" name="Shape 10">
            <a:extLst>
              <a:ext uri="{FF2B5EF4-FFF2-40B4-BE49-F238E27FC236}">
                <a16:creationId xmlns:a16="http://schemas.microsoft.com/office/drawing/2014/main" id="{D654AB26-4515-4A27-A907-2CAF77837C67}"/>
              </a:ext>
            </a:extLst>
          </p:cNvPr>
          <p:cNvSpPr/>
          <p:nvPr/>
        </p:nvSpPr>
        <p:spPr>
          <a:xfrm>
            <a:off x="4942332"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33" name="Shape 6">
            <a:extLst>
              <a:ext uri="{FF2B5EF4-FFF2-40B4-BE49-F238E27FC236}">
                <a16:creationId xmlns:a16="http://schemas.microsoft.com/office/drawing/2014/main" id="{A5E5A858-7793-C783-0549-56E1E9F0265B}"/>
              </a:ext>
            </a:extLst>
          </p:cNvPr>
          <p:cNvSpPr/>
          <p:nvPr/>
        </p:nvSpPr>
        <p:spPr>
          <a:xfrm>
            <a:off x="832104" y="5065776"/>
            <a:ext cx="2121408" cy="0"/>
          </a:xfrm>
          <a:prstGeom prst="line">
            <a:avLst/>
          </a:prstGeom>
          <a:noFill/>
          <a:ln w="114300">
            <a:solidFill>
              <a:srgbClr val="127A4B"/>
            </a:solidFill>
            <a:prstDash val="solid"/>
          </a:ln>
        </p:spPr>
        <p:txBody>
          <a:bodyPr/>
          <a:lstStyle/>
          <a:p>
            <a:endParaRPr lang="en-US"/>
          </a:p>
        </p:txBody>
      </p:sp>
      <p:sp>
        <p:nvSpPr>
          <p:cNvPr id="35" name="Shape 9">
            <a:extLst>
              <a:ext uri="{FF2B5EF4-FFF2-40B4-BE49-F238E27FC236}">
                <a16:creationId xmlns:a16="http://schemas.microsoft.com/office/drawing/2014/main" id="{D60D2433-8461-E89C-227A-3AC35B4F18A4}"/>
              </a:ext>
            </a:extLst>
          </p:cNvPr>
          <p:cNvSpPr/>
          <p:nvPr/>
        </p:nvSpPr>
        <p:spPr>
          <a:xfrm>
            <a:off x="699516" y="4900686"/>
            <a:ext cx="265176" cy="265176"/>
          </a:xfrm>
          <a:prstGeom prst="ellipse">
            <a:avLst/>
          </a:prstGeom>
          <a:solidFill>
            <a:srgbClr val="F2F3F0"/>
          </a:solidFill>
          <a:ln w="50800">
            <a:solidFill>
              <a:srgbClr val="127A4B"/>
            </a:solidFill>
            <a:prstDash val="solid"/>
          </a:ln>
        </p:spPr>
        <p:txBody>
          <a:bodyPr/>
          <a:lstStyle/>
          <a:p>
            <a:endParaRPr lang="en-US"/>
          </a:p>
        </p:txBody>
      </p:sp>
      <p:sp>
        <p:nvSpPr>
          <p:cNvPr id="37" name="Shape 10">
            <a:extLst>
              <a:ext uri="{FF2B5EF4-FFF2-40B4-BE49-F238E27FC236}">
                <a16:creationId xmlns:a16="http://schemas.microsoft.com/office/drawing/2014/main" id="{3ED27014-5DA8-216A-DABB-12B37CEDB8E6}"/>
              </a:ext>
            </a:extLst>
          </p:cNvPr>
          <p:cNvSpPr/>
          <p:nvPr/>
        </p:nvSpPr>
        <p:spPr>
          <a:xfrm>
            <a:off x="2820924" y="4900686"/>
            <a:ext cx="265176" cy="265176"/>
          </a:xfrm>
          <a:prstGeom prst="ellipse">
            <a:avLst/>
          </a:prstGeom>
          <a:solidFill>
            <a:srgbClr val="F2F3F0"/>
          </a:solidFill>
          <a:ln w="50800">
            <a:solidFill>
              <a:srgbClr val="127A4B"/>
            </a:solidFill>
            <a:prstDash val="solid"/>
          </a:ln>
        </p:spPr>
        <p:txBody>
          <a:bodyPr/>
          <a:lstStyle/>
          <a:p>
            <a:endParaRPr lang="en-US"/>
          </a:p>
        </p:txBody>
      </p:sp>
      <p:sp>
        <p:nvSpPr>
          <p:cNvPr id="39" name="Shape 6">
            <a:extLst>
              <a:ext uri="{FF2B5EF4-FFF2-40B4-BE49-F238E27FC236}">
                <a16:creationId xmlns:a16="http://schemas.microsoft.com/office/drawing/2014/main" id="{E93173C1-D09A-F2A5-C932-6FF0AE62E5E8}"/>
              </a:ext>
            </a:extLst>
          </p:cNvPr>
          <p:cNvSpPr/>
          <p:nvPr/>
        </p:nvSpPr>
        <p:spPr>
          <a:xfrm>
            <a:off x="7196328" y="5067299"/>
            <a:ext cx="2121408" cy="0"/>
          </a:xfrm>
          <a:prstGeom prst="line">
            <a:avLst/>
          </a:prstGeom>
          <a:noFill/>
          <a:ln w="114300">
            <a:solidFill>
              <a:srgbClr val="127A4B"/>
            </a:solidFill>
            <a:prstDash val="solid"/>
          </a:ln>
        </p:spPr>
        <p:txBody>
          <a:bodyPr/>
          <a:lstStyle/>
          <a:p>
            <a:endParaRPr lang="en-US"/>
          </a:p>
        </p:txBody>
      </p:sp>
      <p:sp>
        <p:nvSpPr>
          <p:cNvPr id="41" name="Shape 9">
            <a:extLst>
              <a:ext uri="{FF2B5EF4-FFF2-40B4-BE49-F238E27FC236}">
                <a16:creationId xmlns:a16="http://schemas.microsoft.com/office/drawing/2014/main" id="{214C2D9B-41FE-A20B-FFB3-C192102A5B22}"/>
              </a:ext>
            </a:extLst>
          </p:cNvPr>
          <p:cNvSpPr/>
          <p:nvPr/>
        </p:nvSpPr>
        <p:spPr>
          <a:xfrm>
            <a:off x="7063740" y="4934711"/>
            <a:ext cx="265176" cy="265176"/>
          </a:xfrm>
          <a:prstGeom prst="ellipse">
            <a:avLst/>
          </a:prstGeom>
          <a:solidFill>
            <a:srgbClr val="F2F3F0"/>
          </a:solidFill>
          <a:ln w="50800">
            <a:solidFill>
              <a:srgbClr val="127A4B"/>
            </a:solidFill>
            <a:prstDash val="solid"/>
          </a:ln>
        </p:spPr>
        <p:txBody>
          <a:bodyPr/>
          <a:lstStyle/>
          <a:p>
            <a:endParaRPr lang="en-US"/>
          </a:p>
        </p:txBody>
      </p:sp>
      <p:sp>
        <p:nvSpPr>
          <p:cNvPr id="43" name="Shape 10">
            <a:extLst>
              <a:ext uri="{FF2B5EF4-FFF2-40B4-BE49-F238E27FC236}">
                <a16:creationId xmlns:a16="http://schemas.microsoft.com/office/drawing/2014/main" id="{6B1B7FBD-F9D8-AD0A-2FF5-4AB91EBB6A94}"/>
              </a:ext>
            </a:extLst>
          </p:cNvPr>
          <p:cNvSpPr/>
          <p:nvPr/>
        </p:nvSpPr>
        <p:spPr>
          <a:xfrm>
            <a:off x="9185148" y="4934711"/>
            <a:ext cx="265176" cy="265176"/>
          </a:xfrm>
          <a:prstGeom prst="ellipse">
            <a:avLst/>
          </a:prstGeom>
          <a:solidFill>
            <a:srgbClr val="F2F3F0"/>
          </a:solidFill>
          <a:ln w="50800">
            <a:solidFill>
              <a:srgbClr val="127A4B"/>
            </a:solidFill>
            <a:prstDash val="solid"/>
          </a:ln>
        </p:spPr>
        <p:txBody>
          <a:bodyPr/>
          <a:lstStyle/>
          <a:p>
            <a:endParaRPr lang="en-US"/>
          </a:p>
        </p:txBody>
      </p:sp>
      <p:sp>
        <p:nvSpPr>
          <p:cNvPr id="45" name="Shape 6">
            <a:extLst>
              <a:ext uri="{FF2B5EF4-FFF2-40B4-BE49-F238E27FC236}">
                <a16:creationId xmlns:a16="http://schemas.microsoft.com/office/drawing/2014/main" id="{AFB282C2-0458-3C4C-83C4-BF7C180F9295}"/>
              </a:ext>
            </a:extLst>
          </p:cNvPr>
          <p:cNvSpPr/>
          <p:nvPr/>
        </p:nvSpPr>
        <p:spPr>
          <a:xfrm>
            <a:off x="9317736" y="5047487"/>
            <a:ext cx="2121408" cy="0"/>
          </a:xfrm>
          <a:prstGeom prst="line">
            <a:avLst/>
          </a:prstGeom>
          <a:noFill/>
          <a:ln w="114300">
            <a:solidFill>
              <a:srgbClr val="127A4B"/>
            </a:solidFill>
            <a:prstDash val="solid"/>
          </a:ln>
        </p:spPr>
        <p:txBody>
          <a:bodyPr/>
          <a:lstStyle/>
          <a:p>
            <a:endParaRPr lang="en-US"/>
          </a:p>
        </p:txBody>
      </p:sp>
      <p:sp>
        <p:nvSpPr>
          <p:cNvPr id="47" name="Shape 9">
            <a:extLst>
              <a:ext uri="{FF2B5EF4-FFF2-40B4-BE49-F238E27FC236}">
                <a16:creationId xmlns:a16="http://schemas.microsoft.com/office/drawing/2014/main" id="{4A0659BC-E680-29B0-729B-F4060AEABFD0}"/>
              </a:ext>
            </a:extLst>
          </p:cNvPr>
          <p:cNvSpPr/>
          <p:nvPr/>
        </p:nvSpPr>
        <p:spPr>
          <a:xfrm>
            <a:off x="9185148"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49" name="Shape 10">
            <a:extLst>
              <a:ext uri="{FF2B5EF4-FFF2-40B4-BE49-F238E27FC236}">
                <a16:creationId xmlns:a16="http://schemas.microsoft.com/office/drawing/2014/main" id="{0E5D3226-25DC-97D1-6462-89FB8DD4F88E}"/>
              </a:ext>
            </a:extLst>
          </p:cNvPr>
          <p:cNvSpPr/>
          <p:nvPr/>
        </p:nvSpPr>
        <p:spPr>
          <a:xfrm>
            <a:off x="11306556" y="4914899"/>
            <a:ext cx="265176" cy="265176"/>
          </a:xfrm>
          <a:prstGeom prst="ellipse">
            <a:avLst/>
          </a:prstGeom>
          <a:solidFill>
            <a:srgbClr val="F2F3F0"/>
          </a:solidFill>
          <a:ln w="50800">
            <a:solidFill>
              <a:srgbClr val="127A4B"/>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0"/>
        </a:solidFill>
        <a:effectLst/>
      </p:bgPr>
    </p:bg>
    <p:spTree>
      <p:nvGrpSpPr>
        <p:cNvPr id="1" name=""/>
        <p:cNvGrpSpPr/>
        <p:nvPr/>
      </p:nvGrpSpPr>
      <p:grpSpPr>
        <a:xfrm>
          <a:off x="0" y="0"/>
          <a:ext cx="0" cy="0"/>
          <a:chOff x="0" y="0"/>
          <a:chExt cx="0" cy="0"/>
        </a:xfrm>
      </p:grpSpPr>
      <p:sp>
        <p:nvSpPr>
          <p:cNvPr id="2" name="Shape 0"/>
          <p:cNvSpPr/>
          <p:nvPr/>
        </p:nvSpPr>
        <p:spPr>
          <a:xfrm>
            <a:off x="603504" y="384048"/>
            <a:ext cx="109728" cy="301752"/>
          </a:xfrm>
          <a:prstGeom prst="roundRect">
            <a:avLst>
              <a:gd name="adj" fmla="val 50000"/>
            </a:avLst>
          </a:prstGeom>
          <a:solidFill>
            <a:srgbClr val="127A4B"/>
          </a:solidFill>
          <a:ln w="12700">
            <a:solidFill>
              <a:srgbClr val="127A4B">
                <a:alpha val="0"/>
              </a:srgbClr>
            </a:solidFill>
            <a:prstDash val="solid"/>
          </a:ln>
        </p:spPr>
        <p:txBody>
          <a:bodyPr/>
          <a:lstStyle/>
          <a:p>
            <a:endParaRPr lang="en-US"/>
          </a:p>
        </p:txBody>
      </p:sp>
      <p:sp>
        <p:nvSpPr>
          <p:cNvPr id="3" name="Text 1"/>
          <p:cNvSpPr/>
          <p:nvPr/>
        </p:nvSpPr>
        <p:spPr>
          <a:xfrm>
            <a:off x="850392" y="393192"/>
            <a:ext cx="10424160" cy="228600"/>
          </a:xfrm>
          <a:prstGeom prst="rect">
            <a:avLst/>
          </a:prstGeom>
          <a:noFill/>
          <a:ln/>
        </p:spPr>
        <p:txBody>
          <a:bodyPr wrap="square" lIns="0" tIns="0" rIns="0" bIns="0" rtlCol="0" anchor="ctr">
            <a:normAutofit/>
          </a:bodyPr>
          <a:lstStyle/>
          <a:p>
            <a:pPr marL="0" indent="0" algn="l">
              <a:buNone/>
            </a:pPr>
            <a:r>
              <a:rPr lang="en-US" sz="1040" b="1" kern="0" spc="140" dirty="0">
                <a:solidFill>
                  <a:srgbClr val="6B7686"/>
                </a:solidFill>
                <a:latin typeface="Atkinson Hyperlegible Next" pitchFamily="34" charset="0"/>
                <a:ea typeface="Atkinson Hyperlegible Next" pitchFamily="34" charset="-122"/>
                <a:cs typeface="Atkinson Hyperlegible Next" pitchFamily="34" charset="-120"/>
              </a:rPr>
              <a:t>THE PROBLEM</a:t>
            </a:r>
            <a:endParaRPr lang="en-US" sz="1040" dirty="0"/>
          </a:p>
        </p:txBody>
      </p:sp>
      <p:sp>
        <p:nvSpPr>
          <p:cNvPr id="4" name="Text 2"/>
          <p:cNvSpPr/>
          <p:nvPr/>
        </p:nvSpPr>
        <p:spPr>
          <a:xfrm>
            <a:off x="621792" y="868680"/>
            <a:ext cx="10972800" cy="914400"/>
          </a:xfrm>
          <a:prstGeom prst="rect">
            <a:avLst/>
          </a:prstGeom>
          <a:noFill/>
          <a:ln/>
        </p:spPr>
        <p:txBody>
          <a:bodyPr wrap="square" lIns="0" tIns="0" rIns="0" bIns="0" rtlCol="0" anchor="ctr">
            <a:normAutofit/>
          </a:bodyPr>
          <a:lstStyle/>
          <a:p>
            <a:pPr marL="0" indent="0" algn="l">
              <a:buNone/>
            </a:pPr>
            <a:r>
              <a:rPr lang="en-US" sz="3300" b="1" dirty="0">
                <a:solidFill>
                  <a:srgbClr val="0F1B2D"/>
                </a:solidFill>
                <a:latin typeface="Atkinson Hyperlegible Next" pitchFamily="34" charset="0"/>
                <a:ea typeface="Atkinson Hyperlegible Next" pitchFamily="34" charset="-122"/>
                <a:cs typeface="Atkinson Hyperlegible Next" pitchFamily="34" charset="-120"/>
              </a:rPr>
              <a:t>Money decisions are local.</a:t>
            </a:r>
            <a:endParaRPr lang="en-US" sz="3300" dirty="0"/>
          </a:p>
        </p:txBody>
      </p:sp>
      <p:sp>
        <p:nvSpPr>
          <p:cNvPr id="5" name="Text 3"/>
          <p:cNvSpPr/>
          <p:nvPr/>
        </p:nvSpPr>
        <p:spPr>
          <a:xfrm>
            <a:off x="630936" y="1719072"/>
            <a:ext cx="10881360" cy="548640"/>
          </a:xfrm>
          <a:prstGeom prst="rect">
            <a:avLst/>
          </a:prstGeom>
          <a:noFill/>
          <a:ln/>
        </p:spPr>
        <p:txBody>
          <a:bodyPr wrap="square" lIns="0" tIns="0" rIns="0" bIns="0" rtlCol="0" anchor="ctr">
            <a:normAutofit/>
          </a:bodyPr>
          <a:lstStyle/>
          <a:p>
            <a:pPr marL="0" indent="0" algn="l">
              <a:buNone/>
            </a:pPr>
            <a:r>
              <a:rPr lang="en-US" sz="1550" dirty="0">
                <a:solidFill>
                  <a:srgbClr val="3B4656"/>
                </a:solidFill>
                <a:latin typeface="Atkinson Hyperlegible Next" pitchFamily="34" charset="0"/>
                <a:ea typeface="Atkinson Hyperlegible Next" pitchFamily="34" charset="-122"/>
                <a:cs typeface="Atkinson Hyperlegible Next" pitchFamily="34" charset="-120"/>
              </a:rPr>
              <a:t>Generic financial content often overlooks context: institutions, language, culture and life stage.</a:t>
            </a:r>
            <a:endParaRPr lang="en-US" sz="1550" dirty="0"/>
          </a:p>
        </p:txBody>
      </p:sp>
      <p:sp>
        <p:nvSpPr>
          <p:cNvPr id="6" name="Shape 4"/>
          <p:cNvSpPr/>
          <p:nvPr/>
        </p:nvSpPr>
        <p:spPr>
          <a:xfrm>
            <a:off x="594360" y="6510528"/>
            <a:ext cx="10981944" cy="0"/>
          </a:xfrm>
          <a:prstGeom prst="line">
            <a:avLst/>
          </a:prstGeom>
          <a:noFill/>
          <a:ln w="7620">
            <a:solidFill>
              <a:srgbClr val="BEC5C3"/>
            </a:solidFill>
            <a:prstDash val="solid"/>
          </a:ln>
        </p:spPr>
        <p:txBody>
          <a:bodyPr/>
          <a:lstStyle/>
          <a:p>
            <a:endParaRPr lang="en-US"/>
          </a:p>
        </p:txBody>
      </p:sp>
      <p:sp>
        <p:nvSpPr>
          <p:cNvPr id="7" name="Text 5"/>
          <p:cNvSpPr/>
          <p:nvPr/>
        </p:nvSpPr>
        <p:spPr>
          <a:xfrm>
            <a:off x="594360" y="6556248"/>
            <a:ext cx="8229600" cy="128016"/>
          </a:xfrm>
          <a:prstGeom prst="rect">
            <a:avLst/>
          </a:prstGeom>
          <a:noFill/>
          <a:ln/>
        </p:spPr>
        <p:txBody>
          <a:bodyPr wrap="square" lIns="0" tIns="0" rIns="0" bIns="0" rtlCol="0" anchor="ctr">
            <a:normAutofit/>
          </a:bodyPr>
          <a:lstStyle/>
          <a:p>
            <a:pPr marL="0" indent="0" algn="l">
              <a:buNone/>
            </a:pPr>
            <a:r>
              <a:rPr lang="en-US" sz="810" b="1" dirty="0">
                <a:solidFill>
                  <a:srgbClr val="5A6474"/>
                </a:solidFill>
                <a:latin typeface="Atkinson Hyperlegible Next" pitchFamily="34" charset="0"/>
                <a:ea typeface="Atkinson Hyperlegible Next" pitchFamily="34" charset="-122"/>
                <a:cs typeface="Atkinson Hyperlegible Next" pitchFamily="34" charset="-120"/>
              </a:rPr>
              <a:t>ROOTED · INNOVATE WITH DB 2026</a:t>
            </a:r>
            <a:endParaRPr lang="en-US" sz="810" dirty="0"/>
          </a:p>
        </p:txBody>
      </p:sp>
      <p:sp>
        <p:nvSpPr>
          <p:cNvPr id="8" name="Text 6"/>
          <p:cNvSpPr/>
          <p:nvPr/>
        </p:nvSpPr>
        <p:spPr>
          <a:xfrm>
            <a:off x="11064240" y="6537960"/>
            <a:ext cx="502920" cy="155448"/>
          </a:xfrm>
          <a:prstGeom prst="rect">
            <a:avLst/>
          </a:prstGeom>
          <a:noFill/>
          <a:ln/>
        </p:spPr>
        <p:txBody>
          <a:bodyPr wrap="square" lIns="0" tIns="0" rIns="0" bIns="0" rtlCol="0" anchor="ctr">
            <a:normAutofit/>
          </a:bodyPr>
          <a:lstStyle/>
          <a:p>
            <a:pPr marL="0" indent="0" algn="r">
              <a:buNone/>
            </a:pPr>
            <a:r>
              <a:rPr lang="en-US" sz="900" b="1" dirty="0">
                <a:solidFill>
                  <a:srgbClr val="5A6474"/>
                </a:solidFill>
                <a:latin typeface="Atkinson Hyperlegible Next" pitchFamily="34" charset="0"/>
                <a:ea typeface="Atkinson Hyperlegible Next" pitchFamily="34" charset="-122"/>
                <a:cs typeface="Atkinson Hyperlegible Next" pitchFamily="34" charset="-120"/>
              </a:rPr>
              <a:t>02</a:t>
            </a:r>
            <a:endParaRPr lang="en-US" sz="900" dirty="0"/>
          </a:p>
        </p:txBody>
      </p:sp>
      <p:sp>
        <p:nvSpPr>
          <p:cNvPr id="9" name="Shape 7"/>
          <p:cNvSpPr/>
          <p:nvPr/>
        </p:nvSpPr>
        <p:spPr>
          <a:xfrm>
            <a:off x="640080"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10" name="Shape 8"/>
          <p:cNvSpPr/>
          <p:nvPr/>
        </p:nvSpPr>
        <p:spPr>
          <a:xfrm>
            <a:off x="640080" y="2542032"/>
            <a:ext cx="3602736" cy="77724"/>
          </a:xfrm>
          <a:prstGeom prst="roundRect">
            <a:avLst>
              <a:gd name="adj" fmla="val 70588"/>
            </a:avLst>
          </a:prstGeom>
          <a:solidFill>
            <a:srgbClr val="1F5FBF"/>
          </a:solidFill>
          <a:ln w="12700">
            <a:solidFill>
              <a:srgbClr val="1F5FBF">
                <a:alpha val="0"/>
              </a:srgbClr>
            </a:solidFill>
            <a:prstDash val="solid"/>
          </a:ln>
        </p:spPr>
        <p:txBody>
          <a:bodyPr/>
          <a:lstStyle/>
          <a:p>
            <a:endParaRPr lang="en-US"/>
          </a:p>
        </p:txBody>
      </p:sp>
      <p:sp>
        <p:nvSpPr>
          <p:cNvPr id="11" name="Text 9"/>
          <p:cNvSpPr/>
          <p:nvPr/>
        </p:nvSpPr>
        <p:spPr>
          <a:xfrm>
            <a:off x="859536" y="2779776"/>
            <a:ext cx="548640" cy="420624"/>
          </a:xfrm>
          <a:prstGeom prst="rect">
            <a:avLst/>
          </a:prstGeom>
          <a:noFill/>
          <a:ln/>
        </p:spPr>
        <p:txBody>
          <a:bodyPr wrap="square" lIns="0" tIns="0" rIns="0" bIns="0" rtlCol="0" anchor="ctr">
            <a:normAutofit/>
          </a:bodyPr>
          <a:lstStyle/>
          <a:p>
            <a:pPr marL="0" indent="0" algn="l">
              <a:buNone/>
            </a:pPr>
            <a:r>
              <a:rPr lang="en-US" sz="2800" b="1" dirty="0">
                <a:solidFill>
                  <a:srgbClr val="1F5FBF"/>
                </a:solidFill>
                <a:latin typeface="Atkinson Hyperlegible Next" pitchFamily="34" charset="0"/>
                <a:ea typeface="Atkinson Hyperlegible Next" pitchFamily="34" charset="-122"/>
                <a:cs typeface="Atkinson Hyperlegible Next" pitchFamily="34" charset="-120"/>
              </a:rPr>
              <a:t>01</a:t>
            </a:r>
            <a:endParaRPr lang="en-US" sz="2800" dirty="0"/>
          </a:p>
        </p:txBody>
      </p:sp>
      <p:sp>
        <p:nvSpPr>
          <p:cNvPr id="12" name="Text 10"/>
          <p:cNvSpPr/>
          <p:nvPr/>
        </p:nvSpPr>
        <p:spPr>
          <a:xfrm>
            <a:off x="859536"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COUNTRY</a:t>
            </a:r>
            <a:endParaRPr lang="en-US" sz="1700" dirty="0"/>
          </a:p>
        </p:txBody>
      </p:sp>
      <p:sp>
        <p:nvSpPr>
          <p:cNvPr id="13" name="Text 11"/>
          <p:cNvSpPr/>
          <p:nvPr/>
        </p:nvSpPr>
        <p:spPr>
          <a:xfrm>
            <a:off x="859536" y="3877056"/>
            <a:ext cx="3017520" cy="658368"/>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Different products, protections, rates and common scams.</a:t>
            </a:r>
            <a:endParaRPr lang="en-US" sz="1600" dirty="0"/>
          </a:p>
        </p:txBody>
      </p:sp>
      <p:sp>
        <p:nvSpPr>
          <p:cNvPr id="14" name="Shape 12"/>
          <p:cNvSpPr/>
          <p:nvPr/>
        </p:nvSpPr>
        <p:spPr>
          <a:xfrm>
            <a:off x="4498848"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15" name="Shape 13"/>
          <p:cNvSpPr/>
          <p:nvPr/>
        </p:nvSpPr>
        <p:spPr>
          <a:xfrm>
            <a:off x="4498848" y="2542032"/>
            <a:ext cx="3602736" cy="77724"/>
          </a:xfrm>
          <a:prstGeom prst="roundRect">
            <a:avLst>
              <a:gd name="adj" fmla="val 70588"/>
            </a:avLst>
          </a:prstGeom>
          <a:solidFill>
            <a:srgbClr val="D6006F"/>
          </a:solidFill>
          <a:ln w="12700">
            <a:solidFill>
              <a:srgbClr val="D6006F">
                <a:alpha val="0"/>
              </a:srgbClr>
            </a:solidFill>
            <a:prstDash val="solid"/>
          </a:ln>
        </p:spPr>
        <p:txBody>
          <a:bodyPr/>
          <a:lstStyle/>
          <a:p>
            <a:endParaRPr lang="en-US"/>
          </a:p>
        </p:txBody>
      </p:sp>
      <p:sp>
        <p:nvSpPr>
          <p:cNvPr id="16" name="Text 14"/>
          <p:cNvSpPr/>
          <p:nvPr/>
        </p:nvSpPr>
        <p:spPr>
          <a:xfrm>
            <a:off x="4718304" y="2779776"/>
            <a:ext cx="548640" cy="420624"/>
          </a:xfrm>
          <a:prstGeom prst="rect">
            <a:avLst/>
          </a:prstGeom>
          <a:noFill/>
          <a:ln/>
        </p:spPr>
        <p:txBody>
          <a:bodyPr wrap="square" lIns="0" tIns="0" rIns="0" bIns="0" rtlCol="0" anchor="ctr">
            <a:normAutofit/>
          </a:bodyPr>
          <a:lstStyle/>
          <a:p>
            <a:pPr marL="0" indent="0" algn="l">
              <a:buNone/>
            </a:pPr>
            <a:r>
              <a:rPr lang="en-US" sz="2800" b="1" dirty="0">
                <a:solidFill>
                  <a:srgbClr val="D6006F"/>
                </a:solidFill>
                <a:latin typeface="Atkinson Hyperlegible Next" pitchFamily="34" charset="0"/>
                <a:ea typeface="Atkinson Hyperlegible Next" pitchFamily="34" charset="-122"/>
                <a:cs typeface="Atkinson Hyperlegible Next" pitchFamily="34" charset="-120"/>
              </a:rPr>
              <a:t>02</a:t>
            </a:r>
            <a:endParaRPr lang="en-US" sz="2800" dirty="0"/>
          </a:p>
        </p:txBody>
      </p:sp>
      <p:sp>
        <p:nvSpPr>
          <p:cNvPr id="17" name="Text 15"/>
          <p:cNvSpPr/>
          <p:nvPr/>
        </p:nvSpPr>
        <p:spPr>
          <a:xfrm>
            <a:off x="4718304"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LANGUAGE</a:t>
            </a:r>
            <a:endParaRPr lang="en-US" sz="1700" dirty="0"/>
          </a:p>
        </p:txBody>
      </p:sp>
      <p:sp>
        <p:nvSpPr>
          <p:cNvPr id="18" name="Text 16"/>
          <p:cNvSpPr/>
          <p:nvPr/>
        </p:nvSpPr>
        <p:spPr>
          <a:xfrm>
            <a:off x="4718304" y="3877056"/>
            <a:ext cx="3017520" cy="658368"/>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The same concept must stay clear across scripts and currencies.</a:t>
            </a:r>
            <a:endParaRPr lang="en-US" sz="1600" dirty="0"/>
          </a:p>
        </p:txBody>
      </p:sp>
      <p:sp>
        <p:nvSpPr>
          <p:cNvPr id="19" name="Shape 17"/>
          <p:cNvSpPr/>
          <p:nvPr/>
        </p:nvSpPr>
        <p:spPr>
          <a:xfrm>
            <a:off x="8357616"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20" name="Shape 18"/>
          <p:cNvSpPr/>
          <p:nvPr/>
        </p:nvSpPr>
        <p:spPr>
          <a:xfrm>
            <a:off x="8357616" y="2542032"/>
            <a:ext cx="3602736" cy="77724"/>
          </a:xfrm>
          <a:prstGeom prst="roundRect">
            <a:avLst>
              <a:gd name="adj" fmla="val 70588"/>
            </a:avLst>
          </a:prstGeom>
          <a:solidFill>
            <a:srgbClr val="127A4B"/>
          </a:solidFill>
          <a:ln w="12700">
            <a:solidFill>
              <a:srgbClr val="127A4B">
                <a:alpha val="0"/>
              </a:srgbClr>
            </a:solidFill>
            <a:prstDash val="solid"/>
          </a:ln>
        </p:spPr>
        <p:txBody>
          <a:bodyPr/>
          <a:lstStyle/>
          <a:p>
            <a:endParaRPr lang="en-US"/>
          </a:p>
        </p:txBody>
      </p:sp>
      <p:sp>
        <p:nvSpPr>
          <p:cNvPr id="21" name="Text 19"/>
          <p:cNvSpPr/>
          <p:nvPr/>
        </p:nvSpPr>
        <p:spPr>
          <a:xfrm>
            <a:off x="8577072" y="2779776"/>
            <a:ext cx="548640" cy="420624"/>
          </a:xfrm>
          <a:prstGeom prst="rect">
            <a:avLst/>
          </a:prstGeom>
          <a:noFill/>
          <a:ln/>
        </p:spPr>
        <p:txBody>
          <a:bodyPr wrap="square" lIns="0" tIns="0" rIns="0" bIns="0" rtlCol="0" anchor="ctr">
            <a:normAutofit/>
          </a:bodyPr>
          <a:lstStyle/>
          <a:p>
            <a:pPr marL="0" indent="0" algn="l">
              <a:buNone/>
            </a:pPr>
            <a:r>
              <a:rPr lang="en-US" sz="2800" b="1" dirty="0">
                <a:solidFill>
                  <a:srgbClr val="127A4B"/>
                </a:solidFill>
                <a:latin typeface="Atkinson Hyperlegible Next" pitchFamily="34" charset="0"/>
                <a:ea typeface="Atkinson Hyperlegible Next" pitchFamily="34" charset="-122"/>
                <a:cs typeface="Atkinson Hyperlegible Next" pitchFamily="34" charset="-120"/>
              </a:rPr>
              <a:t>03</a:t>
            </a:r>
            <a:endParaRPr lang="en-US" sz="2800" dirty="0"/>
          </a:p>
        </p:txBody>
      </p:sp>
      <p:sp>
        <p:nvSpPr>
          <p:cNvPr id="22" name="Text 20"/>
          <p:cNvSpPr/>
          <p:nvPr/>
        </p:nvSpPr>
        <p:spPr>
          <a:xfrm>
            <a:off x="8577072"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LIFE STAGE</a:t>
            </a:r>
            <a:endParaRPr lang="en-US" sz="1700" dirty="0"/>
          </a:p>
        </p:txBody>
      </p:sp>
      <p:sp>
        <p:nvSpPr>
          <p:cNvPr id="23" name="Text 21"/>
          <p:cNvSpPr/>
          <p:nvPr/>
        </p:nvSpPr>
        <p:spPr>
          <a:xfrm>
            <a:off x="8577072" y="3877056"/>
            <a:ext cx="3017520" cy="658368"/>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A 24-year-old and a 68-year-old need different starting points.</a:t>
            </a:r>
            <a:endParaRPr lang="en-US" sz="1600" dirty="0"/>
          </a:p>
        </p:txBody>
      </p:sp>
      <p:sp>
        <p:nvSpPr>
          <p:cNvPr id="24" name="Shape 22"/>
          <p:cNvSpPr/>
          <p:nvPr/>
        </p:nvSpPr>
        <p:spPr>
          <a:xfrm>
            <a:off x="640080" y="5385816"/>
            <a:ext cx="10945368" cy="658368"/>
          </a:xfrm>
          <a:prstGeom prst="roundRect">
            <a:avLst>
              <a:gd name="adj" fmla="val 8333"/>
            </a:avLst>
          </a:prstGeom>
          <a:solidFill>
            <a:srgbClr val="0F1B2D"/>
          </a:solidFill>
          <a:ln w="12700">
            <a:solidFill>
              <a:srgbClr val="0F1B2D">
                <a:alpha val="0"/>
              </a:srgbClr>
            </a:solidFill>
            <a:prstDash val="solid"/>
          </a:ln>
        </p:spPr>
        <p:txBody>
          <a:bodyPr/>
          <a:lstStyle/>
          <a:p>
            <a:endParaRPr lang="en-US"/>
          </a:p>
        </p:txBody>
      </p:sp>
      <p:sp>
        <p:nvSpPr>
          <p:cNvPr id="25" name="Text 23"/>
          <p:cNvSpPr/>
          <p:nvPr/>
        </p:nvSpPr>
        <p:spPr>
          <a:xfrm>
            <a:off x="932688" y="5522976"/>
            <a:ext cx="10268712" cy="356616"/>
          </a:xfrm>
          <a:prstGeom prst="rect">
            <a:avLst/>
          </a:prstGeom>
          <a:noFill/>
          <a:ln/>
        </p:spPr>
        <p:txBody>
          <a:bodyPr wrap="square" lIns="0" tIns="0" rIns="0" bIns="0" rtlCol="0" anchor="ctr">
            <a:normAutofit/>
          </a:bodyPr>
          <a:lstStyle/>
          <a:p>
            <a:pPr marL="0" indent="0" algn="ctr">
              <a:buNone/>
            </a:pPr>
            <a:r>
              <a:rPr lang="en-US" sz="1800" b="1" dirty="0">
                <a:solidFill>
                  <a:srgbClr val="FFFFFF"/>
                </a:solidFill>
                <a:latin typeface="Atkinson Hyperlegible Next" pitchFamily="34" charset="0"/>
                <a:ea typeface="Atkinson Hyperlegible Next" pitchFamily="34" charset="-122"/>
                <a:cs typeface="Atkinson Hyperlegible Next" pitchFamily="34" charset="-120"/>
              </a:rPr>
              <a:t>Rooted responds with localized facts + decisions you can practice and revisit.</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2F3F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1FE2D86B-4C25-F531-C768-FB3E01E66B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8">
    <p:bg>
      <p:bgPr>
        <a:solidFill>
          <a:srgbClr val="F2F3F0"/>
        </a:solidFill>
        <a:effectLst/>
      </p:bgPr>
    </p:bg>
    <p:spTree>
      <p:nvGrpSpPr>
        <p:cNvPr id="1" name=""/>
        <p:cNvGrpSpPr/>
        <p:nvPr/>
      </p:nvGrpSpPr>
      <p:grpSpPr>
        <a:xfrm>
          <a:off x="0" y="0"/>
          <a:ext cx="0" cy="0"/>
          <a:chOff x="0" y="0"/>
          <a:chExt cx="0" cy="0"/>
        </a:xfrm>
      </p:grpSpPr>
      <p:pic>
        <p:nvPicPr>
          <p:cNvPr id="2" name="Image 0" descr="/mnt/data/data-flow.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372026"/>
            <a:ext cx="12191970" cy="76020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1">
    <p:bg>
      <p:bgPr>
        <a:solidFill>
          <a:srgbClr val="F2F3F0"/>
        </a:solidFill>
        <a:effectLst/>
      </p:bgPr>
    </p:bg>
    <p:spTree>
      <p:nvGrpSpPr>
        <p:cNvPr id="1" name=""/>
        <p:cNvGrpSpPr/>
        <p:nvPr/>
      </p:nvGrpSpPr>
      <p:grpSpPr>
        <a:xfrm>
          <a:off x="0" y="0"/>
          <a:ext cx="0" cy="0"/>
          <a:chOff x="0" y="0"/>
          <a:chExt cx="0" cy="0"/>
        </a:xfrm>
      </p:grpSpPr>
      <p:sp>
        <p:nvSpPr>
          <p:cNvPr id="2" name="Shape 0"/>
          <p:cNvSpPr/>
          <p:nvPr/>
        </p:nvSpPr>
        <p:spPr>
          <a:xfrm>
            <a:off x="603504" y="384048"/>
            <a:ext cx="109728" cy="301752"/>
          </a:xfrm>
          <a:prstGeom prst="roundRect">
            <a:avLst>
              <a:gd name="adj" fmla="val 50000"/>
            </a:avLst>
          </a:prstGeom>
          <a:solidFill>
            <a:srgbClr val="127A4B"/>
          </a:solidFill>
          <a:ln w="12700">
            <a:solidFill>
              <a:srgbClr val="127A4B">
                <a:alpha val="0"/>
              </a:srgbClr>
            </a:solidFill>
            <a:prstDash val="solid"/>
          </a:ln>
        </p:spPr>
        <p:txBody>
          <a:bodyPr/>
          <a:lstStyle/>
          <a:p>
            <a:endParaRPr lang="en-US"/>
          </a:p>
        </p:txBody>
      </p:sp>
      <p:sp>
        <p:nvSpPr>
          <p:cNvPr id="3" name="Text 1"/>
          <p:cNvSpPr/>
          <p:nvPr/>
        </p:nvSpPr>
        <p:spPr>
          <a:xfrm>
            <a:off x="850392" y="393192"/>
            <a:ext cx="10424160" cy="228600"/>
          </a:xfrm>
          <a:prstGeom prst="rect">
            <a:avLst/>
          </a:prstGeom>
          <a:noFill/>
          <a:ln/>
        </p:spPr>
        <p:txBody>
          <a:bodyPr wrap="square" lIns="0" tIns="0" rIns="0" bIns="0" rtlCol="0" anchor="ctr">
            <a:normAutofit/>
          </a:bodyPr>
          <a:lstStyle/>
          <a:p>
            <a:pPr marL="0" indent="0" algn="l">
              <a:buNone/>
            </a:pPr>
            <a:r>
              <a:rPr lang="en-US" sz="1040" b="1" kern="0" spc="140" dirty="0">
                <a:solidFill>
                  <a:srgbClr val="6B7686"/>
                </a:solidFill>
                <a:latin typeface="Atkinson Hyperlegible Next" pitchFamily="34" charset="0"/>
                <a:ea typeface="Atkinson Hyperlegible Next" pitchFamily="34" charset="-122"/>
                <a:cs typeface="Atkinson Hyperlegible Next" pitchFamily="34" charset="-120"/>
              </a:rPr>
              <a:t>PRODUCT MATURITY</a:t>
            </a:r>
            <a:endParaRPr lang="en-US" sz="1040" dirty="0"/>
          </a:p>
        </p:txBody>
      </p:sp>
      <p:sp>
        <p:nvSpPr>
          <p:cNvPr id="4" name="Text 2"/>
          <p:cNvSpPr/>
          <p:nvPr/>
        </p:nvSpPr>
        <p:spPr>
          <a:xfrm>
            <a:off x="621792" y="868680"/>
            <a:ext cx="10972800" cy="914400"/>
          </a:xfrm>
          <a:prstGeom prst="rect">
            <a:avLst/>
          </a:prstGeom>
          <a:noFill/>
          <a:ln/>
        </p:spPr>
        <p:txBody>
          <a:bodyPr wrap="square" lIns="0" tIns="0" rIns="0" bIns="0" rtlCol="0" anchor="ctr">
            <a:normAutofit/>
          </a:bodyPr>
          <a:lstStyle/>
          <a:p>
            <a:pPr marL="0" indent="0" algn="l">
              <a:buNone/>
            </a:pPr>
            <a:r>
              <a:rPr lang="en-US" sz="3300" b="1" dirty="0">
                <a:solidFill>
                  <a:srgbClr val="0F1B2D"/>
                </a:solidFill>
                <a:latin typeface="Atkinson Hyperlegible Next" pitchFamily="34" charset="0"/>
                <a:ea typeface="Atkinson Hyperlegible Next" pitchFamily="34" charset="-122"/>
                <a:cs typeface="Atkinson Hyperlegible Next" pitchFamily="34" charset="-120"/>
              </a:rPr>
              <a:t>Working MVP now. Bank-grade path next.</a:t>
            </a:r>
            <a:endParaRPr lang="en-US" sz="3300" dirty="0"/>
          </a:p>
        </p:txBody>
      </p:sp>
      <p:sp>
        <p:nvSpPr>
          <p:cNvPr id="5" name="Text 3"/>
          <p:cNvSpPr/>
          <p:nvPr/>
        </p:nvSpPr>
        <p:spPr>
          <a:xfrm>
            <a:off x="630936" y="1719072"/>
            <a:ext cx="10881360" cy="548640"/>
          </a:xfrm>
          <a:prstGeom prst="rect">
            <a:avLst/>
          </a:prstGeom>
          <a:noFill/>
          <a:ln/>
        </p:spPr>
        <p:txBody>
          <a:bodyPr wrap="square" lIns="0" tIns="0" rIns="0" bIns="0" rtlCol="0" anchor="ctr">
            <a:normAutofit/>
          </a:bodyPr>
          <a:lstStyle/>
          <a:p>
            <a:pPr marL="0" indent="0" algn="l">
              <a:buNone/>
            </a:pPr>
            <a:r>
              <a:rPr lang="en-US" sz="1550" dirty="0">
                <a:solidFill>
                  <a:srgbClr val="3B4656"/>
                </a:solidFill>
                <a:latin typeface="Atkinson Hyperlegible Next" pitchFamily="34" charset="0"/>
                <a:ea typeface="Atkinson Hyperlegible Next" pitchFamily="34" charset="-122"/>
                <a:cs typeface="Atkinson Hyperlegible Next" pitchFamily="34" charset="-120"/>
              </a:rPr>
              <a:t>Future infrastructure is presented as a roadmap—not as deployed capability.</a:t>
            </a:r>
            <a:endParaRPr lang="en-US" sz="1550" dirty="0"/>
          </a:p>
        </p:txBody>
      </p:sp>
      <p:sp>
        <p:nvSpPr>
          <p:cNvPr id="6" name="Shape 4"/>
          <p:cNvSpPr/>
          <p:nvPr/>
        </p:nvSpPr>
        <p:spPr>
          <a:xfrm>
            <a:off x="594360" y="6510528"/>
            <a:ext cx="10981944" cy="0"/>
          </a:xfrm>
          <a:prstGeom prst="line">
            <a:avLst/>
          </a:prstGeom>
          <a:noFill/>
          <a:ln w="7620">
            <a:solidFill>
              <a:srgbClr val="BEC5C3"/>
            </a:solidFill>
            <a:prstDash val="solid"/>
          </a:ln>
        </p:spPr>
        <p:txBody>
          <a:bodyPr/>
          <a:lstStyle/>
          <a:p>
            <a:endParaRPr lang="en-US"/>
          </a:p>
        </p:txBody>
      </p:sp>
      <p:sp>
        <p:nvSpPr>
          <p:cNvPr id="7" name="Text 5"/>
          <p:cNvSpPr/>
          <p:nvPr/>
        </p:nvSpPr>
        <p:spPr>
          <a:xfrm>
            <a:off x="594360" y="6556248"/>
            <a:ext cx="8229600" cy="128016"/>
          </a:xfrm>
          <a:prstGeom prst="rect">
            <a:avLst/>
          </a:prstGeom>
          <a:noFill/>
          <a:ln/>
        </p:spPr>
        <p:txBody>
          <a:bodyPr wrap="square" lIns="0" tIns="0" rIns="0" bIns="0" rtlCol="0" anchor="ctr">
            <a:normAutofit/>
          </a:bodyPr>
          <a:lstStyle/>
          <a:p>
            <a:pPr marL="0" indent="0" algn="l">
              <a:buNone/>
            </a:pPr>
            <a:r>
              <a:rPr lang="en-US" sz="810" b="1" dirty="0">
                <a:solidFill>
                  <a:srgbClr val="5A6474"/>
                </a:solidFill>
                <a:latin typeface="Atkinson Hyperlegible Next" pitchFamily="34" charset="0"/>
                <a:ea typeface="Atkinson Hyperlegible Next" pitchFamily="34" charset="-122"/>
                <a:cs typeface="Atkinson Hyperlegible Next" pitchFamily="34" charset="-120"/>
              </a:rPr>
              <a:t>ROOTED · INNOVATE WITH DB 2026</a:t>
            </a:r>
            <a:endParaRPr lang="en-US" sz="810" dirty="0"/>
          </a:p>
        </p:txBody>
      </p:sp>
      <p:sp>
        <p:nvSpPr>
          <p:cNvPr id="8" name="Text 6"/>
          <p:cNvSpPr/>
          <p:nvPr/>
        </p:nvSpPr>
        <p:spPr>
          <a:xfrm>
            <a:off x="11064240" y="6537960"/>
            <a:ext cx="502920" cy="155448"/>
          </a:xfrm>
          <a:prstGeom prst="rect">
            <a:avLst/>
          </a:prstGeom>
          <a:noFill/>
          <a:ln/>
        </p:spPr>
        <p:txBody>
          <a:bodyPr wrap="square" lIns="0" tIns="0" rIns="0" bIns="0" rtlCol="0" anchor="ctr">
            <a:normAutofit/>
          </a:bodyPr>
          <a:lstStyle/>
          <a:p>
            <a:pPr marL="0" indent="0" algn="r">
              <a:buNone/>
            </a:pPr>
            <a:r>
              <a:rPr lang="en-US" sz="900" b="1" dirty="0">
                <a:solidFill>
                  <a:srgbClr val="5A6474"/>
                </a:solidFill>
                <a:latin typeface="Atkinson Hyperlegible Next" pitchFamily="34" charset="0"/>
                <a:ea typeface="Atkinson Hyperlegible Next" pitchFamily="34" charset="-122"/>
                <a:cs typeface="Atkinson Hyperlegible Next" pitchFamily="34" charset="-120"/>
              </a:rPr>
              <a:t>11</a:t>
            </a:r>
            <a:endParaRPr lang="en-US" sz="900" dirty="0"/>
          </a:p>
        </p:txBody>
      </p:sp>
      <p:sp>
        <p:nvSpPr>
          <p:cNvPr id="9" name="Shape 7"/>
          <p:cNvSpPr/>
          <p:nvPr/>
        </p:nvSpPr>
        <p:spPr>
          <a:xfrm>
            <a:off x="649224" y="2368296"/>
            <a:ext cx="5312664" cy="3310128"/>
          </a:xfrm>
          <a:prstGeom prst="roundRect">
            <a:avLst>
              <a:gd name="adj" fmla="val 1657"/>
            </a:avLst>
          </a:prstGeom>
          <a:solidFill>
            <a:srgbClr val="FFFFFF"/>
          </a:solidFill>
          <a:ln w="12700">
            <a:solidFill>
              <a:srgbClr val="FFFFFF">
                <a:alpha val="0"/>
              </a:srgbClr>
            </a:solidFill>
            <a:prstDash val="solid"/>
          </a:ln>
        </p:spPr>
        <p:txBody>
          <a:bodyPr/>
          <a:lstStyle/>
          <a:p>
            <a:endParaRPr lang="en-US"/>
          </a:p>
        </p:txBody>
      </p:sp>
      <p:sp>
        <p:nvSpPr>
          <p:cNvPr id="10" name="Shape 8"/>
          <p:cNvSpPr/>
          <p:nvPr/>
        </p:nvSpPr>
        <p:spPr>
          <a:xfrm>
            <a:off x="649224" y="2368296"/>
            <a:ext cx="5312664" cy="100584"/>
          </a:xfrm>
          <a:prstGeom prst="roundRect">
            <a:avLst>
              <a:gd name="adj" fmla="val 54545"/>
            </a:avLst>
          </a:prstGeom>
          <a:solidFill>
            <a:srgbClr val="127A4B"/>
          </a:solidFill>
          <a:ln w="12700">
            <a:solidFill>
              <a:srgbClr val="127A4B">
                <a:alpha val="0"/>
              </a:srgbClr>
            </a:solidFill>
            <a:prstDash val="solid"/>
          </a:ln>
        </p:spPr>
        <p:txBody>
          <a:bodyPr/>
          <a:lstStyle/>
          <a:p>
            <a:endParaRPr lang="en-US"/>
          </a:p>
        </p:txBody>
      </p:sp>
      <p:sp>
        <p:nvSpPr>
          <p:cNvPr id="11" name="Text 9"/>
          <p:cNvSpPr/>
          <p:nvPr/>
        </p:nvSpPr>
        <p:spPr>
          <a:xfrm>
            <a:off x="969264" y="2679192"/>
            <a:ext cx="4700016" cy="347472"/>
          </a:xfrm>
          <a:prstGeom prst="rect">
            <a:avLst/>
          </a:prstGeom>
          <a:noFill/>
          <a:ln/>
        </p:spPr>
        <p:txBody>
          <a:bodyPr wrap="square" lIns="0" tIns="0" rIns="0" bIns="0" rtlCol="0" anchor="ctr">
            <a:normAutofit/>
          </a:bodyPr>
          <a:lstStyle/>
          <a:p>
            <a:pPr marL="0" indent="0" algn="l">
              <a:buNone/>
            </a:pPr>
            <a:r>
              <a:rPr lang="en-US" sz="1800" b="1" dirty="0">
                <a:solidFill>
                  <a:srgbClr val="127A4B"/>
                </a:solidFill>
                <a:latin typeface="Atkinson Hyperlegible Next" pitchFamily="34" charset="0"/>
                <a:ea typeface="Atkinson Hyperlegible Next" pitchFamily="34" charset="-122"/>
                <a:cs typeface="Atkinson Hyperlegible Next" pitchFamily="34" charset="-120"/>
              </a:rPr>
              <a:t>BUILT IN THE MVP</a:t>
            </a:r>
            <a:endParaRPr lang="en-US" sz="1800" dirty="0"/>
          </a:p>
        </p:txBody>
      </p:sp>
      <p:sp>
        <p:nvSpPr>
          <p:cNvPr id="12" name="Text 10"/>
          <p:cNvSpPr/>
          <p:nvPr/>
        </p:nvSpPr>
        <p:spPr>
          <a:xfrm>
            <a:off x="978408" y="3264408"/>
            <a:ext cx="4572000" cy="2066544"/>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Browser-local profile and game</a:t>
            </a:r>
            <a:endParaRPr lang="en-US" sz="1600" dirty="0"/>
          </a:p>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No user accounts</a:t>
            </a:r>
            <a:endParaRPr lang="en-US" sz="1600" dirty="0"/>
          </a:p>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Zod-validated lesson requests</a:t>
            </a:r>
            <a:endParaRPr lang="en-US" sz="1600" dirty="0"/>
          </a:p>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Source-dated country packs</a:t>
            </a:r>
            <a:endParaRPr lang="en-US" sz="1600" dirty="0"/>
          </a:p>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Cached / saved offline lessons</a:t>
            </a:r>
            <a:endParaRPr lang="en-US" sz="1600" dirty="0"/>
          </a:p>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Automated tests and checks</a:t>
            </a:r>
            <a:endParaRPr lang="en-US" sz="1600" dirty="0"/>
          </a:p>
        </p:txBody>
      </p:sp>
      <p:sp>
        <p:nvSpPr>
          <p:cNvPr id="13" name="Shape 11"/>
          <p:cNvSpPr/>
          <p:nvPr/>
        </p:nvSpPr>
        <p:spPr>
          <a:xfrm>
            <a:off x="6190488" y="2368296"/>
            <a:ext cx="5349240" cy="3310128"/>
          </a:xfrm>
          <a:prstGeom prst="roundRect">
            <a:avLst>
              <a:gd name="adj" fmla="val 1657"/>
            </a:avLst>
          </a:prstGeom>
          <a:solidFill>
            <a:srgbClr val="0F1B2D"/>
          </a:solidFill>
          <a:ln w="12700">
            <a:solidFill>
              <a:srgbClr val="0F1B2D">
                <a:alpha val="0"/>
              </a:srgbClr>
            </a:solidFill>
            <a:prstDash val="solid"/>
          </a:ln>
        </p:spPr>
        <p:txBody>
          <a:bodyPr/>
          <a:lstStyle/>
          <a:p>
            <a:endParaRPr lang="en-US"/>
          </a:p>
        </p:txBody>
      </p:sp>
      <p:sp>
        <p:nvSpPr>
          <p:cNvPr id="14" name="Shape 12"/>
          <p:cNvSpPr/>
          <p:nvPr/>
        </p:nvSpPr>
        <p:spPr>
          <a:xfrm>
            <a:off x="6190488" y="2368296"/>
            <a:ext cx="5349240" cy="100584"/>
          </a:xfrm>
          <a:prstGeom prst="roundRect">
            <a:avLst>
              <a:gd name="adj" fmla="val 54545"/>
            </a:avLst>
          </a:prstGeom>
          <a:solidFill>
            <a:srgbClr val="1F5FBF"/>
          </a:solidFill>
          <a:ln w="12700">
            <a:solidFill>
              <a:srgbClr val="1F5FBF">
                <a:alpha val="0"/>
              </a:srgbClr>
            </a:solidFill>
            <a:prstDash val="solid"/>
          </a:ln>
        </p:spPr>
        <p:txBody>
          <a:bodyPr/>
          <a:lstStyle/>
          <a:p>
            <a:endParaRPr lang="en-US"/>
          </a:p>
        </p:txBody>
      </p:sp>
      <p:sp>
        <p:nvSpPr>
          <p:cNvPr id="15" name="Text 13"/>
          <p:cNvSpPr/>
          <p:nvPr/>
        </p:nvSpPr>
        <p:spPr>
          <a:xfrm>
            <a:off x="6492240" y="2679192"/>
            <a:ext cx="4672584" cy="347472"/>
          </a:xfrm>
          <a:prstGeom prst="rect">
            <a:avLst/>
          </a:prstGeom>
          <a:noFill/>
          <a:ln/>
        </p:spPr>
        <p:txBody>
          <a:bodyPr wrap="square" lIns="0" tIns="0" rIns="0" bIns="0" rtlCol="0" anchor="ctr">
            <a:normAutofit/>
          </a:bodyPr>
          <a:lstStyle/>
          <a:p>
            <a:pPr marL="0" indent="0" algn="l">
              <a:buNone/>
            </a:pPr>
            <a:r>
              <a:rPr lang="en-US" sz="1700" b="1" dirty="0">
                <a:solidFill>
                  <a:srgbClr val="FFFFFF"/>
                </a:solidFill>
                <a:latin typeface="Atkinson Hyperlegible Next" pitchFamily="34" charset="0"/>
                <a:ea typeface="Atkinson Hyperlegible Next" pitchFamily="34" charset="-122"/>
                <a:cs typeface="Atkinson Hyperlegible Next" pitchFamily="34" charset="-120"/>
              </a:rPr>
              <a:t>PROPOSED PRODUCTION TARGET</a:t>
            </a:r>
            <a:endParaRPr lang="en-US" sz="1700" dirty="0"/>
          </a:p>
        </p:txBody>
      </p:sp>
      <p:sp>
        <p:nvSpPr>
          <p:cNvPr id="16" name="Text 14"/>
          <p:cNvSpPr/>
          <p:nvPr/>
        </p:nvSpPr>
        <p:spPr>
          <a:xfrm>
            <a:off x="6519672" y="3264408"/>
            <a:ext cx="4617720" cy="2103120"/>
          </a:xfrm>
          <a:prstGeom prst="rect">
            <a:avLst/>
          </a:prstGeom>
          <a:noFill/>
          <a:ln/>
        </p:spPr>
        <p:txBody>
          <a:bodyPr wrap="square" lIns="0" tIns="0" rIns="0" bIns="0" rtlCol="0" anchor="ctr">
            <a:normAutofit/>
          </a:bodyPr>
          <a:lstStyle/>
          <a:p>
            <a:pPr marL="0" indent="0" algn="l">
              <a:buNone/>
            </a:pPr>
            <a:r>
              <a:rPr lang="en-US" sz="1570" dirty="0">
                <a:solidFill>
                  <a:srgbClr val="D5DFE9"/>
                </a:solidFill>
                <a:latin typeface="Atkinson Hyperlegible Next" pitchFamily="34" charset="0"/>
                <a:ea typeface="Atkinson Hyperlegible Next" pitchFamily="34" charset="-122"/>
                <a:cs typeface="Atkinson Hyperlegible Next" pitchFamily="34" charset="-120"/>
              </a:rPr>
              <a:t>EU-resident model serving</a:t>
            </a:r>
            <a:endParaRPr lang="en-US" sz="1570" dirty="0"/>
          </a:p>
          <a:p>
            <a:pPr marL="0" indent="0" algn="l">
              <a:buNone/>
            </a:pPr>
            <a:r>
              <a:rPr lang="en-US" sz="1570" dirty="0">
                <a:solidFill>
                  <a:srgbClr val="D5DFE9"/>
                </a:solidFill>
                <a:latin typeface="Atkinson Hyperlegible Next" pitchFamily="34" charset="0"/>
                <a:ea typeface="Atkinson Hyperlegible Next" pitchFamily="34" charset="-122"/>
                <a:cs typeface="Atkinson Hyperlegible Next" pitchFamily="34" charset="-120"/>
              </a:rPr>
              <a:t>Encryption + zero-trust controls</a:t>
            </a:r>
            <a:endParaRPr lang="en-US" sz="1570" dirty="0"/>
          </a:p>
          <a:p>
            <a:pPr marL="0" indent="0" algn="l">
              <a:buNone/>
            </a:pPr>
            <a:r>
              <a:rPr lang="en-US" sz="1570" dirty="0">
                <a:solidFill>
                  <a:srgbClr val="D5DFE9"/>
                </a:solidFill>
                <a:latin typeface="Atkinson Hyperlegible Next" pitchFamily="34" charset="0"/>
                <a:ea typeface="Atkinson Hyperlegible Next" pitchFamily="34" charset="-122"/>
                <a:cs typeface="Atkinson Hyperlegible Next" pitchFamily="34" charset="-120"/>
              </a:rPr>
              <a:t>Auditing and observability</a:t>
            </a:r>
            <a:endParaRPr lang="en-US" sz="1570" dirty="0"/>
          </a:p>
          <a:p>
            <a:pPr marL="0" indent="0" algn="l">
              <a:buNone/>
            </a:pPr>
            <a:r>
              <a:rPr lang="en-US" sz="1570" dirty="0">
                <a:solidFill>
                  <a:srgbClr val="D5DFE9"/>
                </a:solidFill>
                <a:latin typeface="Atkinson Hyperlegible Next" pitchFamily="34" charset="0"/>
                <a:ea typeface="Atkinson Hyperlegible Next" pitchFamily="34" charset="-122"/>
                <a:cs typeface="Atkinson Hyperlegible Next" pitchFamily="34" charset="-120"/>
              </a:rPr>
              <a:t>Governed content review</a:t>
            </a:r>
            <a:endParaRPr lang="en-US" sz="1570" dirty="0"/>
          </a:p>
          <a:p>
            <a:pPr marL="0" indent="0" algn="l">
              <a:buNone/>
            </a:pPr>
            <a:r>
              <a:rPr lang="en-US" sz="1570" dirty="0">
                <a:solidFill>
                  <a:srgbClr val="D5DFE9"/>
                </a:solidFill>
                <a:latin typeface="Atkinson Hyperlegible Next" pitchFamily="34" charset="0"/>
                <a:ea typeface="Atkinson Hyperlegible Next" pitchFamily="34" charset="-122"/>
                <a:cs typeface="Atkinson Hyperlegible Next" pitchFamily="34" charset="-120"/>
              </a:rPr>
              <a:t>Privacy / accessibility controls</a:t>
            </a:r>
            <a:endParaRPr lang="en-US" sz="1570" dirty="0"/>
          </a:p>
          <a:p>
            <a:pPr marL="0" indent="0" algn="l">
              <a:buNone/>
            </a:pPr>
            <a:r>
              <a:rPr lang="en-US" sz="1570" dirty="0">
                <a:solidFill>
                  <a:srgbClr val="D5DFE9"/>
                </a:solidFill>
                <a:latin typeface="Atkinson Hyperlegible Next" pitchFamily="34" charset="0"/>
                <a:ea typeface="Atkinson Hyperlegible Next" pitchFamily="34" charset="-122"/>
                <a:cs typeface="Atkinson Hyperlegible Next" pitchFamily="34" charset="-120"/>
              </a:rPr>
              <a:t>GDPR · DORA · EU AI Act alignment</a:t>
            </a:r>
            <a:endParaRPr lang="en-US" sz="1570" dirty="0"/>
          </a:p>
        </p:txBody>
      </p:sp>
      <p:sp>
        <p:nvSpPr>
          <p:cNvPr id="17" name="Text 15"/>
          <p:cNvSpPr/>
          <p:nvPr/>
        </p:nvSpPr>
        <p:spPr>
          <a:xfrm>
            <a:off x="704088" y="5925312"/>
            <a:ext cx="10881360" cy="310896"/>
          </a:xfrm>
          <a:prstGeom prst="rect">
            <a:avLst/>
          </a:prstGeom>
          <a:noFill/>
          <a:ln/>
        </p:spPr>
        <p:txBody>
          <a:bodyPr wrap="square" lIns="0" tIns="0" rIns="0" bIns="0" rtlCol="0" anchor="ctr">
            <a:normAutofit/>
          </a:bodyPr>
          <a:lstStyle/>
          <a:p>
            <a:pPr marL="0" indent="0" algn="l">
              <a:buNone/>
            </a:pPr>
            <a:r>
              <a:rPr lang="en-US" sz="1180" dirty="0">
                <a:solidFill>
                  <a:srgbClr val="3B4656"/>
                </a:solidFill>
                <a:latin typeface="Atkinson Hyperlegible Next" pitchFamily="34" charset="0"/>
                <a:ea typeface="Atkinson Hyperlegible Next" pitchFamily="34" charset="-122"/>
                <a:cs typeface="Atkinson Hyperlegible Next" pitchFamily="34" charset="-120"/>
              </a:rPr>
              <a:t>Target direction: Vertex AI in the EU. These controls require engineering and validation beyond the hackathon.</a:t>
            </a:r>
            <a:endParaRPr lang="en-US" sz="11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tkinson Hyperlegible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TotalTime>
  <Words>549</Words>
  <Application>Microsoft Office PowerPoint</Application>
  <PresentationFormat>Widescreen</PresentationFormat>
  <Paragraphs>55</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Atkinson Hyperlegible Next</vt:lpstr>
      <vt:lpstr>Office Theme</vt:lpstr>
      <vt:lpstr>PowerPoint Presentation</vt:lpstr>
      <vt:lpstr>PowerPoint Presentation</vt:lpstr>
      <vt:lpstr>PowerPoint Presentation</vt:lpstr>
      <vt:lpstr>PowerPoint Presentation</vt:lpstr>
      <vt:lpstr>PowerPoint Presentation</vt:lpstr>
    </vt:vector>
  </TitlesOfParts>
  <Company>Rooted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Rooted — Localized Financial Education</dc:title>
  <dc:subject>Localized financial education — Innovate with DB 2026</dc:subject>
  <dc:creator>Rooted project presentation</dc:creator>
  <cp:lastModifiedBy>Lian, Brenton</cp:lastModifiedBy>
  <cp:revision>3</cp:revision>
  <dcterms:created xsi:type="dcterms:W3CDTF">2026-10-15T17:43:45Z</dcterms:created>
  <dcterms:modified xsi:type="dcterms:W3CDTF">2026-10-15T18:40:31Z</dcterms:modified>
</cp:coreProperties>
</file>