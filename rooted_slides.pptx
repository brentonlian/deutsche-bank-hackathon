
<file path=[Content_Types].xml><?xml version="1.0" encoding="utf-8"?>
<Types xmlns="http://schemas.openxmlformats.org/package/2006/content-types">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0"/>
  </p:notesMasterIdLst>
  <p:sldIdLst>
    <p:sldId id="256" r:id="rId5"/>
    <p:sldId id="257" r:id="rId6"/>
    <p:sldId id="261" r:id="rId7"/>
    <p:sldId id="263" r:id="rId8"/>
    <p:sldId id="267"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6" d="100"/>
          <a:sy n="76" d="100"/>
        </p:scale>
        <p:origin x="272" y="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74965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30 seconds. Rooted turns general money advice into education grounded in country, language and life stage. The visual identity is a transit line: decisions are stations, and a better path is the green express line.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40 seconds. The product adapts to countries and age groups rather than assuming one default financial system. It considers local protections and scams, translates the learning experience, and uses country-specific examples rather than unsupported generic advice.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80 seconds. Production target on Google Cloud (EU): a plan, not built in the MVP. Left to right: anonymous learners, the edge (Cloud CDN caches approved lessons, Cloud Armor filters traffic), Cloud Run running the same Next.js code, and Vertex AI on an EU endpoint. Data: Cloud Storage holds the versioned lesson catalog with a Redis cache in front; Cloud Tasks queues AI drafts so no learner waits on a live model call; BigQuery receives anonymized events only. Same plan as slide 5: launch in one region, add failover and bank SSO as demand grows. Bottom: zero-trust perimeter, content released separately from code with four-eyes review, and a DevSecOps pipeline.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85 seconds. This is the supplied vector data-flow.svg. Four lanes: A onboarding stays in browser; B lessons send only topic, country, language, age group and simple-mode settings to the server; C Life Path runs fully client side; D country-pack content, translations and tests are prepared in Git and reviewed. Explicitly note that personal financial values do not get sent with lesson requests.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Enterprise scalability strategy (proposed, not MVP): Keep the deterministic game, budgeting inputs, and profile in the browser to avoid scaling a stateful game backend. Deploy a containerized, stateless Next.js API to autoscaling Cloud Run behind an HTTPS load balancer, Cloud CDN and Cloud Armor. Serve approved lesson objects from cache and a shared versioned catalog (Cloud Storage + Redis). Generate and translate lessons asynchronously with Cloud Tasks and a hosted model in the appropriate data-residency region; apply schema checks, source attribution, and human financial-content review before publication. Enterprise guardrails: least-privilege IAM, secrets, observability, error and latency SLOs, rate/instance caps, canary deployments and rollback. Start in one EU region and add failover and enterprise SSO based on requirements and demand. Public lesson caching never includes individual financial inputs. This is an architecture proposal, not a claim of deployed infrastructure.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9012929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a:effectLst/>
      </p:bgPr>
    </p:bg>
    <p:spTree>
      <p:nvGrpSpPr>
        <p:cNvPr id="1" name=""/>
        <p:cNvGrpSpPr/>
        <p:nvPr/>
      </p:nvGrpSpPr>
      <p:grpSpPr>
        <a:xfrm>
          <a:off x="0" y="0"/>
          <a:ext cx="0" cy="0"/>
          <a:chOff x="0" y="0"/>
          <a:chExt cx="0" cy="0"/>
        </a:xfrm>
      </p:grpSpPr>
      <p:sp>
        <p:nvSpPr>
          <p:cNvPr id="2" name="Shape 0"/>
          <p:cNvSpPr/>
          <p:nvPr/>
        </p:nvSpPr>
        <p:spPr>
          <a:xfrm>
            <a:off x="0" y="0"/>
            <a:ext cx="12191970" cy="109728"/>
          </a:xfrm>
          <a:prstGeom prst="roundRect">
            <a:avLst>
              <a:gd name="adj" fmla="val 50000"/>
            </a:avLst>
          </a:prstGeom>
          <a:solidFill>
            <a:srgbClr val="127A4B"/>
          </a:solidFill>
          <a:ln w="12700">
            <a:solidFill>
              <a:srgbClr val="127A4B">
                <a:alpha val="0"/>
              </a:srgbClr>
            </a:solidFill>
            <a:prstDash val="solid"/>
          </a:ln>
        </p:spPr>
        <p:txBody>
          <a:bodyPr/>
          <a:lstStyle/>
          <a:p>
            <a:endParaRPr lang="en-US"/>
          </a:p>
        </p:txBody>
      </p:sp>
      <p:sp>
        <p:nvSpPr>
          <p:cNvPr id="4" name="Text 2"/>
          <p:cNvSpPr/>
          <p:nvPr/>
        </p:nvSpPr>
        <p:spPr>
          <a:xfrm>
            <a:off x="640080" y="1197864"/>
            <a:ext cx="7772400" cy="1042416"/>
          </a:xfrm>
          <a:prstGeom prst="rect">
            <a:avLst/>
          </a:prstGeom>
          <a:noFill/>
          <a:ln/>
        </p:spPr>
        <p:txBody>
          <a:bodyPr wrap="square" lIns="0" tIns="0" rIns="0" bIns="0" rtlCol="0" anchor="ctr">
            <a:normAutofit/>
          </a:bodyPr>
          <a:lstStyle/>
          <a:p>
            <a:pPr marL="0" indent="0" algn="l">
              <a:buNone/>
            </a:pPr>
            <a:r>
              <a:rPr lang="en-US" sz="6200" b="1" dirty="0">
                <a:solidFill>
                  <a:srgbClr val="FFFFFF"/>
                </a:solidFill>
                <a:latin typeface="Atkinson Hyperlegible Next" pitchFamily="34" charset="0"/>
                <a:ea typeface="Atkinson Hyperlegible Next" pitchFamily="34" charset="-122"/>
                <a:cs typeface="Atkinson Hyperlegible Next" pitchFamily="34" charset="-120"/>
              </a:rPr>
              <a:t>Rooted</a:t>
            </a:r>
            <a:endParaRPr lang="en-US" sz="6200" dirty="0"/>
          </a:p>
        </p:txBody>
      </p:sp>
      <p:sp>
        <p:nvSpPr>
          <p:cNvPr id="5" name="Text 3"/>
          <p:cNvSpPr/>
          <p:nvPr/>
        </p:nvSpPr>
        <p:spPr>
          <a:xfrm>
            <a:off x="667512" y="2432304"/>
            <a:ext cx="9326880" cy="987552"/>
          </a:xfrm>
          <a:prstGeom prst="rect">
            <a:avLst/>
          </a:prstGeom>
          <a:noFill/>
          <a:ln/>
        </p:spPr>
        <p:txBody>
          <a:bodyPr wrap="square" lIns="0" tIns="0" rIns="0" bIns="0" rtlCol="0" anchor="ctr">
            <a:normAutofit/>
          </a:bodyPr>
          <a:lstStyle/>
          <a:p>
            <a:pPr marL="0" indent="0" algn="l">
              <a:buNone/>
            </a:pPr>
            <a:r>
              <a:rPr lang="en-US" sz="2700" b="1" dirty="0">
                <a:solidFill>
                  <a:srgbClr val="FFFFFF"/>
                </a:solidFill>
                <a:latin typeface="Atkinson Hyperlegible Next" pitchFamily="34" charset="0"/>
                <a:ea typeface="Atkinson Hyperlegible Next" pitchFamily="34" charset="-122"/>
                <a:cs typeface="Atkinson Hyperlegible Next" pitchFamily="34" charset="-120"/>
              </a:rPr>
              <a:t>Financial education that speaks your language—and knows your world.</a:t>
            </a:r>
            <a:endParaRPr lang="en-US" sz="2700" dirty="0"/>
          </a:p>
        </p:txBody>
      </p:sp>
      <p:sp>
        <p:nvSpPr>
          <p:cNvPr id="6" name="Text 4"/>
          <p:cNvSpPr/>
          <p:nvPr/>
        </p:nvSpPr>
        <p:spPr>
          <a:xfrm>
            <a:off x="685800" y="3703320"/>
            <a:ext cx="8229600" cy="329184"/>
          </a:xfrm>
          <a:prstGeom prst="rect">
            <a:avLst/>
          </a:prstGeom>
          <a:noFill/>
          <a:ln/>
        </p:spPr>
        <p:txBody>
          <a:bodyPr wrap="square" lIns="0" tIns="0" rIns="0" bIns="0" rtlCol="0" anchor="ctr">
            <a:normAutofit/>
          </a:bodyPr>
          <a:lstStyle/>
          <a:p>
            <a:pPr marL="0" indent="0" algn="l">
              <a:buNone/>
            </a:pPr>
            <a:r>
              <a:rPr lang="en-US" sz="1500" dirty="0">
                <a:solidFill>
                  <a:srgbClr val="C2CFD8"/>
                </a:solidFill>
                <a:latin typeface="Atkinson Hyperlegible Next" pitchFamily="34" charset="0"/>
                <a:ea typeface="Atkinson Hyperlegible Next" pitchFamily="34" charset="-122"/>
                <a:cs typeface="Atkinson Hyperlegible Next" pitchFamily="34" charset="-120"/>
              </a:rPr>
              <a:t>Localized financial education  /  Innovate with DB 2026</a:t>
            </a:r>
            <a:endParaRPr lang="en-US" sz="1500" dirty="0"/>
          </a:p>
        </p:txBody>
      </p:sp>
      <p:sp>
        <p:nvSpPr>
          <p:cNvPr id="7" name="Shape 5"/>
          <p:cNvSpPr/>
          <p:nvPr/>
        </p:nvSpPr>
        <p:spPr>
          <a:xfrm>
            <a:off x="832104" y="5065776"/>
            <a:ext cx="10506456" cy="0"/>
          </a:xfrm>
          <a:prstGeom prst="line">
            <a:avLst/>
          </a:prstGeom>
          <a:noFill/>
          <a:ln w="114300">
            <a:solidFill>
              <a:srgbClr val="718199"/>
            </a:solidFill>
            <a:prstDash val="solid"/>
          </a:ln>
        </p:spPr>
        <p:txBody>
          <a:bodyPr/>
          <a:lstStyle/>
          <a:p>
            <a:endParaRPr lang="en-US"/>
          </a:p>
        </p:txBody>
      </p:sp>
      <p:sp>
        <p:nvSpPr>
          <p:cNvPr id="8" name="Shape 6"/>
          <p:cNvSpPr/>
          <p:nvPr/>
        </p:nvSpPr>
        <p:spPr>
          <a:xfrm>
            <a:off x="5074920" y="5065776"/>
            <a:ext cx="2121408" cy="0"/>
          </a:xfrm>
          <a:prstGeom prst="line">
            <a:avLst/>
          </a:prstGeom>
          <a:noFill/>
          <a:ln w="114300">
            <a:solidFill>
              <a:srgbClr val="127A4B"/>
            </a:solidFill>
            <a:prstDash val="solid"/>
          </a:ln>
        </p:spPr>
        <p:txBody>
          <a:bodyPr/>
          <a:lstStyle/>
          <a:p>
            <a:endParaRPr lang="en-US"/>
          </a:p>
        </p:txBody>
      </p:sp>
      <p:sp>
        <p:nvSpPr>
          <p:cNvPr id="11" name="Shape 9"/>
          <p:cNvSpPr/>
          <p:nvPr/>
        </p:nvSpPr>
        <p:spPr>
          <a:xfrm>
            <a:off x="4942332" y="4933188"/>
            <a:ext cx="265176" cy="265176"/>
          </a:xfrm>
          <a:prstGeom prst="ellipse">
            <a:avLst/>
          </a:prstGeom>
          <a:solidFill>
            <a:srgbClr val="F2F3F0"/>
          </a:solidFill>
          <a:ln w="50800">
            <a:solidFill>
              <a:srgbClr val="127A4B"/>
            </a:solidFill>
            <a:prstDash val="solid"/>
          </a:ln>
        </p:spPr>
        <p:txBody>
          <a:bodyPr/>
          <a:lstStyle/>
          <a:p>
            <a:endParaRPr lang="en-US"/>
          </a:p>
        </p:txBody>
      </p:sp>
      <p:sp>
        <p:nvSpPr>
          <p:cNvPr id="12" name="Shape 10"/>
          <p:cNvSpPr/>
          <p:nvPr/>
        </p:nvSpPr>
        <p:spPr>
          <a:xfrm>
            <a:off x="7063740" y="4933188"/>
            <a:ext cx="265176" cy="265176"/>
          </a:xfrm>
          <a:prstGeom prst="ellipse">
            <a:avLst/>
          </a:prstGeom>
          <a:solidFill>
            <a:srgbClr val="F2F3F0"/>
          </a:solidFill>
          <a:ln w="50800">
            <a:solidFill>
              <a:srgbClr val="127A4B"/>
            </a:solidFill>
            <a:prstDash val="solid"/>
          </a:ln>
        </p:spPr>
        <p:txBody>
          <a:bodyPr/>
          <a:lstStyle/>
          <a:p>
            <a:endParaRPr lang="en-US"/>
          </a:p>
        </p:txBody>
      </p:sp>
      <p:sp>
        <p:nvSpPr>
          <p:cNvPr id="15" name="Text 13"/>
          <p:cNvSpPr/>
          <p:nvPr/>
        </p:nvSpPr>
        <p:spPr>
          <a:xfrm>
            <a:off x="374904" y="5413248"/>
            <a:ext cx="914400" cy="310896"/>
          </a:xfrm>
          <a:prstGeom prst="rect">
            <a:avLst/>
          </a:prstGeom>
          <a:noFill/>
          <a:ln/>
        </p:spPr>
        <p:txBody>
          <a:bodyPr wrap="square" lIns="0" tIns="0" rIns="0" bIns="0" rtlCol="0" anchor="ctr">
            <a:normAutofit/>
          </a:bodyPr>
          <a:lstStyle/>
          <a:p>
            <a:pPr marL="0" indent="0" algn="ctr">
              <a:buNone/>
            </a:pPr>
            <a:r>
              <a:rPr lang="en-US" sz="1000" b="1" dirty="0">
                <a:solidFill>
                  <a:srgbClr val="D3DFE8"/>
                </a:solidFill>
                <a:latin typeface="Atkinson Hyperlegible Next" pitchFamily="34" charset="0"/>
                <a:ea typeface="Atkinson Hyperlegible Next" pitchFamily="34" charset="-122"/>
                <a:cs typeface="Atkinson Hyperlegible Next" pitchFamily="34" charset="-120"/>
              </a:rPr>
              <a:t>Context</a:t>
            </a:r>
            <a:endParaRPr lang="en-US" sz="1000" dirty="0"/>
          </a:p>
        </p:txBody>
      </p:sp>
      <p:sp>
        <p:nvSpPr>
          <p:cNvPr id="16" name="Text 14"/>
          <p:cNvSpPr/>
          <p:nvPr/>
        </p:nvSpPr>
        <p:spPr>
          <a:xfrm>
            <a:off x="2496312" y="5413248"/>
            <a:ext cx="914400" cy="310896"/>
          </a:xfrm>
          <a:prstGeom prst="rect">
            <a:avLst/>
          </a:prstGeom>
          <a:noFill/>
          <a:ln/>
        </p:spPr>
        <p:txBody>
          <a:bodyPr wrap="square" lIns="0" tIns="0" rIns="0" bIns="0" rtlCol="0" anchor="ctr">
            <a:normAutofit/>
          </a:bodyPr>
          <a:lstStyle/>
          <a:p>
            <a:pPr marL="0" indent="0" algn="ctr">
              <a:buNone/>
            </a:pPr>
            <a:r>
              <a:rPr lang="en-US" sz="1000" b="1" dirty="0">
                <a:solidFill>
                  <a:srgbClr val="D3DFE8"/>
                </a:solidFill>
                <a:latin typeface="Atkinson Hyperlegible Next" pitchFamily="34" charset="0"/>
                <a:ea typeface="Atkinson Hyperlegible Next" pitchFamily="34" charset="-122"/>
                <a:cs typeface="Atkinson Hyperlegible Next" pitchFamily="34" charset="-120"/>
              </a:rPr>
              <a:t>Learn</a:t>
            </a:r>
            <a:endParaRPr lang="en-US" sz="1000" dirty="0"/>
          </a:p>
        </p:txBody>
      </p:sp>
      <p:sp>
        <p:nvSpPr>
          <p:cNvPr id="17" name="Text 15"/>
          <p:cNvSpPr/>
          <p:nvPr/>
        </p:nvSpPr>
        <p:spPr>
          <a:xfrm>
            <a:off x="4617720" y="5413248"/>
            <a:ext cx="914400" cy="310896"/>
          </a:xfrm>
          <a:prstGeom prst="rect">
            <a:avLst/>
          </a:prstGeom>
          <a:noFill/>
          <a:ln/>
        </p:spPr>
        <p:txBody>
          <a:bodyPr wrap="square" lIns="0" tIns="0" rIns="0" bIns="0" rtlCol="0" anchor="ctr">
            <a:normAutofit/>
          </a:bodyPr>
          <a:lstStyle/>
          <a:p>
            <a:pPr marL="0" indent="0" algn="ctr">
              <a:buNone/>
            </a:pPr>
            <a:r>
              <a:rPr lang="en-US" sz="1000" b="1" dirty="0">
                <a:solidFill>
                  <a:srgbClr val="D3DFE8"/>
                </a:solidFill>
                <a:latin typeface="Atkinson Hyperlegible Next" pitchFamily="34" charset="0"/>
                <a:ea typeface="Atkinson Hyperlegible Next" pitchFamily="34" charset="-122"/>
                <a:cs typeface="Atkinson Hyperlegible Next" pitchFamily="34" charset="-120"/>
              </a:rPr>
              <a:t>Practice</a:t>
            </a:r>
            <a:endParaRPr lang="en-US" sz="1000" dirty="0"/>
          </a:p>
        </p:txBody>
      </p:sp>
      <p:sp>
        <p:nvSpPr>
          <p:cNvPr id="18" name="Text 16"/>
          <p:cNvSpPr/>
          <p:nvPr/>
        </p:nvSpPr>
        <p:spPr>
          <a:xfrm>
            <a:off x="6739128" y="5413248"/>
            <a:ext cx="914400" cy="310896"/>
          </a:xfrm>
          <a:prstGeom prst="rect">
            <a:avLst/>
          </a:prstGeom>
          <a:noFill/>
          <a:ln/>
        </p:spPr>
        <p:txBody>
          <a:bodyPr wrap="square" lIns="0" tIns="0" rIns="0" bIns="0" rtlCol="0" anchor="ctr">
            <a:normAutofit/>
          </a:bodyPr>
          <a:lstStyle/>
          <a:p>
            <a:pPr marL="0" indent="0" algn="ctr">
              <a:buNone/>
            </a:pPr>
            <a:r>
              <a:rPr lang="en-US" sz="1000" b="1" dirty="0">
                <a:solidFill>
                  <a:srgbClr val="D3DFE8"/>
                </a:solidFill>
                <a:latin typeface="Atkinson Hyperlegible Next" pitchFamily="34" charset="0"/>
                <a:ea typeface="Atkinson Hyperlegible Next" pitchFamily="34" charset="-122"/>
                <a:cs typeface="Atkinson Hyperlegible Next" pitchFamily="34" charset="-120"/>
              </a:rPr>
              <a:t>Decide</a:t>
            </a:r>
            <a:endParaRPr lang="en-US" sz="1000" dirty="0"/>
          </a:p>
        </p:txBody>
      </p:sp>
      <p:sp>
        <p:nvSpPr>
          <p:cNvPr id="19" name="Text 17"/>
          <p:cNvSpPr/>
          <p:nvPr/>
        </p:nvSpPr>
        <p:spPr>
          <a:xfrm>
            <a:off x="8869680" y="5413248"/>
            <a:ext cx="914400" cy="310896"/>
          </a:xfrm>
          <a:prstGeom prst="rect">
            <a:avLst/>
          </a:prstGeom>
          <a:noFill/>
          <a:ln/>
        </p:spPr>
        <p:txBody>
          <a:bodyPr wrap="square" lIns="0" tIns="0" rIns="0" bIns="0" rtlCol="0" anchor="ctr">
            <a:normAutofit/>
          </a:bodyPr>
          <a:lstStyle/>
          <a:p>
            <a:pPr marL="0" indent="0" algn="ctr">
              <a:buNone/>
            </a:pPr>
            <a:r>
              <a:rPr lang="en-US" sz="1000" b="1" dirty="0">
                <a:solidFill>
                  <a:srgbClr val="D3DFE8"/>
                </a:solidFill>
                <a:latin typeface="Atkinson Hyperlegible Next" pitchFamily="34" charset="0"/>
                <a:ea typeface="Atkinson Hyperlegible Next" pitchFamily="34" charset="-122"/>
                <a:cs typeface="Atkinson Hyperlegible Next" pitchFamily="34" charset="-120"/>
              </a:rPr>
              <a:t>Compare</a:t>
            </a:r>
            <a:endParaRPr lang="en-US" sz="1000" dirty="0"/>
          </a:p>
        </p:txBody>
      </p:sp>
      <p:sp>
        <p:nvSpPr>
          <p:cNvPr id="20" name="Text 18"/>
          <p:cNvSpPr/>
          <p:nvPr/>
        </p:nvSpPr>
        <p:spPr>
          <a:xfrm>
            <a:off x="10899648" y="5413248"/>
            <a:ext cx="914400" cy="310896"/>
          </a:xfrm>
          <a:prstGeom prst="rect">
            <a:avLst/>
          </a:prstGeom>
          <a:noFill/>
          <a:ln/>
        </p:spPr>
        <p:txBody>
          <a:bodyPr wrap="square" lIns="0" tIns="0" rIns="0" bIns="0" rtlCol="0" anchor="ctr">
            <a:normAutofit/>
          </a:bodyPr>
          <a:lstStyle/>
          <a:p>
            <a:pPr marL="0" indent="0" algn="ctr">
              <a:buNone/>
            </a:pPr>
            <a:r>
              <a:rPr lang="en-US" sz="1000" b="1" dirty="0">
                <a:solidFill>
                  <a:srgbClr val="D3DFE8"/>
                </a:solidFill>
                <a:latin typeface="Atkinson Hyperlegible Next" pitchFamily="34" charset="0"/>
                <a:ea typeface="Atkinson Hyperlegible Next" pitchFamily="34" charset="-122"/>
                <a:cs typeface="Atkinson Hyperlegible Next" pitchFamily="34" charset="-120"/>
              </a:rPr>
              <a:t>Replay</a:t>
            </a:r>
            <a:endParaRPr lang="en-US" sz="1000" dirty="0"/>
          </a:p>
        </p:txBody>
      </p:sp>
      <p:sp>
        <p:nvSpPr>
          <p:cNvPr id="21" name="Text 19"/>
          <p:cNvSpPr/>
          <p:nvPr/>
        </p:nvSpPr>
        <p:spPr>
          <a:xfrm>
            <a:off x="676656" y="6080760"/>
            <a:ext cx="7315200" cy="210312"/>
          </a:xfrm>
          <a:prstGeom prst="rect">
            <a:avLst/>
          </a:prstGeom>
          <a:noFill/>
          <a:ln/>
        </p:spPr>
        <p:txBody>
          <a:bodyPr wrap="square" lIns="0" tIns="0" rIns="0" bIns="0" rtlCol="0" anchor="ctr">
            <a:normAutofit/>
          </a:bodyPr>
          <a:lstStyle/>
          <a:p>
            <a:pPr marL="0" indent="0" algn="l">
              <a:buNone/>
            </a:pPr>
            <a:r>
              <a:rPr lang="en-US" sz="1100" b="1" kern="0" spc="170" dirty="0">
                <a:solidFill>
                  <a:srgbClr val="D3DFE8"/>
                </a:solidFill>
                <a:latin typeface="Atkinson Hyperlegible Next" pitchFamily="34" charset="0"/>
                <a:ea typeface="Atkinson Hyperlegible Next" pitchFamily="34" charset="-122"/>
                <a:cs typeface="Atkinson Hyperlegible Next" pitchFamily="34" charset="-120"/>
              </a:rPr>
              <a:t>ONE LEARNING LINE · MANY LOCAL REALITIES</a:t>
            </a:r>
            <a:endParaRPr lang="en-US" sz="1100" dirty="0"/>
          </a:p>
        </p:txBody>
      </p:sp>
      <p:sp>
        <p:nvSpPr>
          <p:cNvPr id="27" name="Shape 6">
            <a:extLst>
              <a:ext uri="{FF2B5EF4-FFF2-40B4-BE49-F238E27FC236}">
                <a16:creationId xmlns:a16="http://schemas.microsoft.com/office/drawing/2014/main" id="{AD32F417-37B8-DB3D-972D-FA20D140D541}"/>
              </a:ext>
            </a:extLst>
          </p:cNvPr>
          <p:cNvSpPr/>
          <p:nvPr/>
        </p:nvSpPr>
        <p:spPr>
          <a:xfrm>
            <a:off x="2953512" y="5047487"/>
            <a:ext cx="2121408" cy="0"/>
          </a:xfrm>
          <a:prstGeom prst="line">
            <a:avLst/>
          </a:prstGeom>
          <a:noFill/>
          <a:ln w="114300">
            <a:solidFill>
              <a:srgbClr val="127A4B"/>
            </a:solidFill>
            <a:prstDash val="solid"/>
          </a:ln>
        </p:spPr>
        <p:txBody>
          <a:bodyPr/>
          <a:lstStyle/>
          <a:p>
            <a:endParaRPr lang="en-US"/>
          </a:p>
        </p:txBody>
      </p:sp>
      <p:sp>
        <p:nvSpPr>
          <p:cNvPr id="29" name="Shape 9">
            <a:extLst>
              <a:ext uri="{FF2B5EF4-FFF2-40B4-BE49-F238E27FC236}">
                <a16:creationId xmlns:a16="http://schemas.microsoft.com/office/drawing/2014/main" id="{B16EE08A-63F8-E6F4-596D-6689DAAD3DC5}"/>
              </a:ext>
            </a:extLst>
          </p:cNvPr>
          <p:cNvSpPr/>
          <p:nvPr/>
        </p:nvSpPr>
        <p:spPr>
          <a:xfrm>
            <a:off x="2820924" y="4914899"/>
            <a:ext cx="265176" cy="265176"/>
          </a:xfrm>
          <a:prstGeom prst="ellipse">
            <a:avLst/>
          </a:prstGeom>
          <a:solidFill>
            <a:srgbClr val="F2F3F0"/>
          </a:solidFill>
          <a:ln w="50800">
            <a:solidFill>
              <a:srgbClr val="127A4B"/>
            </a:solidFill>
            <a:prstDash val="solid"/>
          </a:ln>
        </p:spPr>
        <p:txBody>
          <a:bodyPr/>
          <a:lstStyle/>
          <a:p>
            <a:endParaRPr lang="en-US"/>
          </a:p>
        </p:txBody>
      </p:sp>
      <p:sp>
        <p:nvSpPr>
          <p:cNvPr id="31" name="Shape 10">
            <a:extLst>
              <a:ext uri="{FF2B5EF4-FFF2-40B4-BE49-F238E27FC236}">
                <a16:creationId xmlns:a16="http://schemas.microsoft.com/office/drawing/2014/main" id="{D654AB26-4515-4A27-A907-2CAF77837C67}"/>
              </a:ext>
            </a:extLst>
          </p:cNvPr>
          <p:cNvSpPr/>
          <p:nvPr/>
        </p:nvSpPr>
        <p:spPr>
          <a:xfrm>
            <a:off x="4942332" y="4914899"/>
            <a:ext cx="265176" cy="265176"/>
          </a:xfrm>
          <a:prstGeom prst="ellipse">
            <a:avLst/>
          </a:prstGeom>
          <a:solidFill>
            <a:srgbClr val="F2F3F0"/>
          </a:solidFill>
          <a:ln w="50800">
            <a:solidFill>
              <a:srgbClr val="127A4B"/>
            </a:solidFill>
            <a:prstDash val="solid"/>
          </a:ln>
        </p:spPr>
        <p:txBody>
          <a:bodyPr/>
          <a:lstStyle/>
          <a:p>
            <a:endParaRPr lang="en-US"/>
          </a:p>
        </p:txBody>
      </p:sp>
      <p:sp>
        <p:nvSpPr>
          <p:cNvPr id="33" name="Shape 6">
            <a:extLst>
              <a:ext uri="{FF2B5EF4-FFF2-40B4-BE49-F238E27FC236}">
                <a16:creationId xmlns:a16="http://schemas.microsoft.com/office/drawing/2014/main" id="{A5E5A858-7793-C783-0549-56E1E9F0265B}"/>
              </a:ext>
            </a:extLst>
          </p:cNvPr>
          <p:cNvSpPr/>
          <p:nvPr/>
        </p:nvSpPr>
        <p:spPr>
          <a:xfrm>
            <a:off x="832104" y="5065776"/>
            <a:ext cx="2121408" cy="0"/>
          </a:xfrm>
          <a:prstGeom prst="line">
            <a:avLst/>
          </a:prstGeom>
          <a:noFill/>
          <a:ln w="114300">
            <a:solidFill>
              <a:srgbClr val="127A4B"/>
            </a:solidFill>
            <a:prstDash val="solid"/>
          </a:ln>
        </p:spPr>
        <p:txBody>
          <a:bodyPr/>
          <a:lstStyle/>
          <a:p>
            <a:endParaRPr lang="en-US"/>
          </a:p>
        </p:txBody>
      </p:sp>
      <p:sp>
        <p:nvSpPr>
          <p:cNvPr id="35" name="Shape 9">
            <a:extLst>
              <a:ext uri="{FF2B5EF4-FFF2-40B4-BE49-F238E27FC236}">
                <a16:creationId xmlns:a16="http://schemas.microsoft.com/office/drawing/2014/main" id="{D60D2433-8461-E89C-227A-3AC35B4F18A4}"/>
              </a:ext>
            </a:extLst>
          </p:cNvPr>
          <p:cNvSpPr/>
          <p:nvPr/>
        </p:nvSpPr>
        <p:spPr>
          <a:xfrm>
            <a:off x="699516" y="4900686"/>
            <a:ext cx="265176" cy="265176"/>
          </a:xfrm>
          <a:prstGeom prst="ellipse">
            <a:avLst/>
          </a:prstGeom>
          <a:solidFill>
            <a:srgbClr val="F2F3F0"/>
          </a:solidFill>
          <a:ln w="50800">
            <a:solidFill>
              <a:srgbClr val="127A4B"/>
            </a:solidFill>
            <a:prstDash val="solid"/>
          </a:ln>
        </p:spPr>
        <p:txBody>
          <a:bodyPr/>
          <a:lstStyle/>
          <a:p>
            <a:endParaRPr lang="en-US"/>
          </a:p>
        </p:txBody>
      </p:sp>
      <p:sp>
        <p:nvSpPr>
          <p:cNvPr id="37" name="Shape 10">
            <a:extLst>
              <a:ext uri="{FF2B5EF4-FFF2-40B4-BE49-F238E27FC236}">
                <a16:creationId xmlns:a16="http://schemas.microsoft.com/office/drawing/2014/main" id="{3ED27014-5DA8-216A-DABB-12B37CEDB8E6}"/>
              </a:ext>
            </a:extLst>
          </p:cNvPr>
          <p:cNvSpPr/>
          <p:nvPr/>
        </p:nvSpPr>
        <p:spPr>
          <a:xfrm>
            <a:off x="2820924" y="4900686"/>
            <a:ext cx="265176" cy="265176"/>
          </a:xfrm>
          <a:prstGeom prst="ellipse">
            <a:avLst/>
          </a:prstGeom>
          <a:solidFill>
            <a:srgbClr val="F2F3F0"/>
          </a:solidFill>
          <a:ln w="50800">
            <a:solidFill>
              <a:srgbClr val="127A4B"/>
            </a:solidFill>
            <a:prstDash val="solid"/>
          </a:ln>
        </p:spPr>
        <p:txBody>
          <a:bodyPr/>
          <a:lstStyle/>
          <a:p>
            <a:endParaRPr lang="en-US"/>
          </a:p>
        </p:txBody>
      </p:sp>
      <p:sp>
        <p:nvSpPr>
          <p:cNvPr id="39" name="Shape 6">
            <a:extLst>
              <a:ext uri="{FF2B5EF4-FFF2-40B4-BE49-F238E27FC236}">
                <a16:creationId xmlns:a16="http://schemas.microsoft.com/office/drawing/2014/main" id="{E93173C1-D09A-F2A5-C932-6FF0AE62E5E8}"/>
              </a:ext>
            </a:extLst>
          </p:cNvPr>
          <p:cNvSpPr/>
          <p:nvPr/>
        </p:nvSpPr>
        <p:spPr>
          <a:xfrm>
            <a:off x="7196328" y="5067299"/>
            <a:ext cx="2121408" cy="0"/>
          </a:xfrm>
          <a:prstGeom prst="line">
            <a:avLst/>
          </a:prstGeom>
          <a:noFill/>
          <a:ln w="114300">
            <a:solidFill>
              <a:srgbClr val="127A4B"/>
            </a:solidFill>
            <a:prstDash val="solid"/>
          </a:ln>
        </p:spPr>
        <p:txBody>
          <a:bodyPr/>
          <a:lstStyle/>
          <a:p>
            <a:endParaRPr lang="en-US"/>
          </a:p>
        </p:txBody>
      </p:sp>
      <p:sp>
        <p:nvSpPr>
          <p:cNvPr id="41" name="Shape 9">
            <a:extLst>
              <a:ext uri="{FF2B5EF4-FFF2-40B4-BE49-F238E27FC236}">
                <a16:creationId xmlns:a16="http://schemas.microsoft.com/office/drawing/2014/main" id="{214C2D9B-41FE-A20B-FFB3-C192102A5B22}"/>
              </a:ext>
            </a:extLst>
          </p:cNvPr>
          <p:cNvSpPr/>
          <p:nvPr/>
        </p:nvSpPr>
        <p:spPr>
          <a:xfrm>
            <a:off x="7063740" y="4934711"/>
            <a:ext cx="265176" cy="265176"/>
          </a:xfrm>
          <a:prstGeom prst="ellipse">
            <a:avLst/>
          </a:prstGeom>
          <a:solidFill>
            <a:srgbClr val="F2F3F0"/>
          </a:solidFill>
          <a:ln w="50800">
            <a:solidFill>
              <a:srgbClr val="127A4B"/>
            </a:solidFill>
            <a:prstDash val="solid"/>
          </a:ln>
        </p:spPr>
        <p:txBody>
          <a:bodyPr/>
          <a:lstStyle/>
          <a:p>
            <a:endParaRPr lang="en-US"/>
          </a:p>
        </p:txBody>
      </p:sp>
      <p:sp>
        <p:nvSpPr>
          <p:cNvPr id="43" name="Shape 10">
            <a:extLst>
              <a:ext uri="{FF2B5EF4-FFF2-40B4-BE49-F238E27FC236}">
                <a16:creationId xmlns:a16="http://schemas.microsoft.com/office/drawing/2014/main" id="{6B1B7FBD-F9D8-AD0A-2FF5-4AB91EBB6A94}"/>
              </a:ext>
            </a:extLst>
          </p:cNvPr>
          <p:cNvSpPr/>
          <p:nvPr/>
        </p:nvSpPr>
        <p:spPr>
          <a:xfrm>
            <a:off x="9185148" y="4934711"/>
            <a:ext cx="265176" cy="265176"/>
          </a:xfrm>
          <a:prstGeom prst="ellipse">
            <a:avLst/>
          </a:prstGeom>
          <a:solidFill>
            <a:srgbClr val="F2F3F0"/>
          </a:solidFill>
          <a:ln w="50800">
            <a:solidFill>
              <a:srgbClr val="127A4B"/>
            </a:solidFill>
            <a:prstDash val="solid"/>
          </a:ln>
        </p:spPr>
        <p:txBody>
          <a:bodyPr/>
          <a:lstStyle/>
          <a:p>
            <a:endParaRPr lang="en-US"/>
          </a:p>
        </p:txBody>
      </p:sp>
      <p:sp>
        <p:nvSpPr>
          <p:cNvPr id="45" name="Shape 6">
            <a:extLst>
              <a:ext uri="{FF2B5EF4-FFF2-40B4-BE49-F238E27FC236}">
                <a16:creationId xmlns:a16="http://schemas.microsoft.com/office/drawing/2014/main" id="{AFB282C2-0458-3C4C-83C4-BF7C180F9295}"/>
              </a:ext>
            </a:extLst>
          </p:cNvPr>
          <p:cNvSpPr/>
          <p:nvPr/>
        </p:nvSpPr>
        <p:spPr>
          <a:xfrm>
            <a:off x="9317736" y="5047487"/>
            <a:ext cx="2121408" cy="0"/>
          </a:xfrm>
          <a:prstGeom prst="line">
            <a:avLst/>
          </a:prstGeom>
          <a:noFill/>
          <a:ln w="114300">
            <a:solidFill>
              <a:srgbClr val="127A4B"/>
            </a:solidFill>
            <a:prstDash val="solid"/>
          </a:ln>
        </p:spPr>
        <p:txBody>
          <a:bodyPr/>
          <a:lstStyle/>
          <a:p>
            <a:endParaRPr lang="en-US"/>
          </a:p>
        </p:txBody>
      </p:sp>
      <p:sp>
        <p:nvSpPr>
          <p:cNvPr id="47" name="Shape 9">
            <a:extLst>
              <a:ext uri="{FF2B5EF4-FFF2-40B4-BE49-F238E27FC236}">
                <a16:creationId xmlns:a16="http://schemas.microsoft.com/office/drawing/2014/main" id="{4A0659BC-E680-29B0-729B-F4060AEABFD0}"/>
              </a:ext>
            </a:extLst>
          </p:cNvPr>
          <p:cNvSpPr/>
          <p:nvPr/>
        </p:nvSpPr>
        <p:spPr>
          <a:xfrm>
            <a:off x="9185148" y="4914899"/>
            <a:ext cx="265176" cy="265176"/>
          </a:xfrm>
          <a:prstGeom prst="ellipse">
            <a:avLst/>
          </a:prstGeom>
          <a:solidFill>
            <a:srgbClr val="F2F3F0"/>
          </a:solidFill>
          <a:ln w="50800">
            <a:solidFill>
              <a:srgbClr val="127A4B"/>
            </a:solidFill>
            <a:prstDash val="solid"/>
          </a:ln>
        </p:spPr>
        <p:txBody>
          <a:bodyPr/>
          <a:lstStyle/>
          <a:p>
            <a:endParaRPr lang="en-US"/>
          </a:p>
        </p:txBody>
      </p:sp>
      <p:sp>
        <p:nvSpPr>
          <p:cNvPr id="49" name="Shape 10">
            <a:extLst>
              <a:ext uri="{FF2B5EF4-FFF2-40B4-BE49-F238E27FC236}">
                <a16:creationId xmlns:a16="http://schemas.microsoft.com/office/drawing/2014/main" id="{0E5D3226-25DC-97D1-6462-89FB8DD4F88E}"/>
              </a:ext>
            </a:extLst>
          </p:cNvPr>
          <p:cNvSpPr/>
          <p:nvPr/>
        </p:nvSpPr>
        <p:spPr>
          <a:xfrm>
            <a:off x="11306556" y="4914899"/>
            <a:ext cx="265176" cy="265176"/>
          </a:xfrm>
          <a:prstGeom prst="ellipse">
            <a:avLst/>
          </a:prstGeom>
          <a:solidFill>
            <a:srgbClr val="F2F3F0"/>
          </a:solidFill>
          <a:ln w="50800">
            <a:solidFill>
              <a:srgbClr val="127A4B"/>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3F0"/>
        </a:solidFill>
        <a:effectLst/>
      </p:bgPr>
    </p:bg>
    <p:spTree>
      <p:nvGrpSpPr>
        <p:cNvPr id="1" name=""/>
        <p:cNvGrpSpPr/>
        <p:nvPr/>
      </p:nvGrpSpPr>
      <p:grpSpPr>
        <a:xfrm>
          <a:off x="0" y="0"/>
          <a:ext cx="0" cy="0"/>
          <a:chOff x="0" y="0"/>
          <a:chExt cx="0" cy="0"/>
        </a:xfrm>
      </p:grpSpPr>
      <p:sp>
        <p:nvSpPr>
          <p:cNvPr id="2" name="Shape 0"/>
          <p:cNvSpPr/>
          <p:nvPr/>
        </p:nvSpPr>
        <p:spPr>
          <a:xfrm>
            <a:off x="603504" y="384048"/>
            <a:ext cx="109728" cy="301752"/>
          </a:xfrm>
          <a:prstGeom prst="roundRect">
            <a:avLst>
              <a:gd name="adj" fmla="val 50000"/>
            </a:avLst>
          </a:prstGeom>
          <a:solidFill>
            <a:srgbClr val="127A4B"/>
          </a:solidFill>
          <a:ln w="12700">
            <a:solidFill>
              <a:srgbClr val="127A4B">
                <a:alpha val="0"/>
              </a:srgbClr>
            </a:solidFill>
            <a:prstDash val="solid"/>
          </a:ln>
        </p:spPr>
        <p:txBody>
          <a:bodyPr/>
          <a:lstStyle/>
          <a:p>
            <a:endParaRPr lang="en-US"/>
          </a:p>
        </p:txBody>
      </p:sp>
      <p:sp>
        <p:nvSpPr>
          <p:cNvPr id="3" name="Text 1"/>
          <p:cNvSpPr/>
          <p:nvPr/>
        </p:nvSpPr>
        <p:spPr>
          <a:xfrm>
            <a:off x="850392" y="393192"/>
            <a:ext cx="10424160" cy="228600"/>
          </a:xfrm>
          <a:prstGeom prst="rect">
            <a:avLst/>
          </a:prstGeom>
          <a:noFill/>
          <a:ln/>
        </p:spPr>
        <p:txBody>
          <a:bodyPr wrap="square" lIns="0" tIns="0" rIns="0" bIns="0" rtlCol="0" anchor="ctr">
            <a:normAutofit/>
          </a:bodyPr>
          <a:lstStyle/>
          <a:p>
            <a:pPr marL="0" indent="0" algn="l">
              <a:buNone/>
            </a:pPr>
            <a:r>
              <a:rPr lang="en-US" sz="1040" b="1" kern="0" spc="140" dirty="0">
                <a:solidFill>
                  <a:srgbClr val="6B7686"/>
                </a:solidFill>
                <a:latin typeface="Atkinson Hyperlegible Next" pitchFamily="34" charset="0"/>
                <a:ea typeface="Atkinson Hyperlegible Next" pitchFamily="34" charset="-122"/>
                <a:cs typeface="Atkinson Hyperlegible Next" pitchFamily="34" charset="-120"/>
              </a:rPr>
              <a:t>THE PROBLEM</a:t>
            </a:r>
            <a:endParaRPr lang="en-US" sz="1040" dirty="0"/>
          </a:p>
        </p:txBody>
      </p:sp>
      <p:sp>
        <p:nvSpPr>
          <p:cNvPr id="4" name="Text 2"/>
          <p:cNvSpPr/>
          <p:nvPr/>
        </p:nvSpPr>
        <p:spPr>
          <a:xfrm>
            <a:off x="621792" y="868680"/>
            <a:ext cx="10972800" cy="914400"/>
          </a:xfrm>
          <a:prstGeom prst="rect">
            <a:avLst/>
          </a:prstGeom>
          <a:noFill/>
          <a:ln/>
        </p:spPr>
        <p:txBody>
          <a:bodyPr wrap="square" lIns="0" tIns="0" rIns="0" bIns="0" rtlCol="0" anchor="ctr">
            <a:normAutofit/>
          </a:bodyPr>
          <a:lstStyle/>
          <a:p>
            <a:pPr marL="0" indent="0" algn="l">
              <a:buNone/>
            </a:pPr>
            <a:r>
              <a:rPr lang="en-US" sz="3300" b="1" dirty="0">
                <a:solidFill>
                  <a:srgbClr val="0F1B2D"/>
                </a:solidFill>
                <a:latin typeface="Atkinson Hyperlegible Next" pitchFamily="34" charset="0"/>
                <a:ea typeface="Atkinson Hyperlegible Next" pitchFamily="34" charset="-122"/>
                <a:cs typeface="Atkinson Hyperlegible Next" pitchFamily="34" charset="-120"/>
              </a:rPr>
              <a:t>Money decisions are local.</a:t>
            </a:r>
            <a:endParaRPr lang="en-US" sz="3300" dirty="0"/>
          </a:p>
        </p:txBody>
      </p:sp>
      <p:sp>
        <p:nvSpPr>
          <p:cNvPr id="5" name="Text 3"/>
          <p:cNvSpPr/>
          <p:nvPr/>
        </p:nvSpPr>
        <p:spPr>
          <a:xfrm>
            <a:off x="630936" y="1719072"/>
            <a:ext cx="10881360" cy="548640"/>
          </a:xfrm>
          <a:prstGeom prst="rect">
            <a:avLst/>
          </a:prstGeom>
          <a:noFill/>
          <a:ln/>
        </p:spPr>
        <p:txBody>
          <a:bodyPr wrap="square" lIns="0" tIns="0" rIns="0" bIns="0" rtlCol="0" anchor="ctr">
            <a:normAutofit/>
          </a:bodyPr>
          <a:lstStyle/>
          <a:p>
            <a:pPr marL="0" indent="0" algn="l">
              <a:buNone/>
            </a:pPr>
            <a:r>
              <a:rPr lang="en-US" sz="1550" dirty="0">
                <a:solidFill>
                  <a:srgbClr val="3B4656"/>
                </a:solidFill>
                <a:latin typeface="Atkinson Hyperlegible Next" pitchFamily="34" charset="0"/>
                <a:ea typeface="Atkinson Hyperlegible Next" pitchFamily="34" charset="-122"/>
                <a:cs typeface="Atkinson Hyperlegible Next" pitchFamily="34" charset="-120"/>
              </a:rPr>
              <a:t>Generic financial content often overlooks context: institutions, language, culture and life stage.</a:t>
            </a:r>
            <a:endParaRPr lang="en-US" sz="1550" dirty="0"/>
          </a:p>
        </p:txBody>
      </p:sp>
      <p:sp>
        <p:nvSpPr>
          <p:cNvPr id="6" name="Shape 4"/>
          <p:cNvSpPr/>
          <p:nvPr/>
        </p:nvSpPr>
        <p:spPr>
          <a:xfrm>
            <a:off x="594360" y="6510528"/>
            <a:ext cx="10981944" cy="0"/>
          </a:xfrm>
          <a:prstGeom prst="line">
            <a:avLst/>
          </a:prstGeom>
          <a:noFill/>
          <a:ln w="7620">
            <a:solidFill>
              <a:srgbClr val="BEC5C3"/>
            </a:solidFill>
            <a:prstDash val="solid"/>
          </a:ln>
        </p:spPr>
        <p:txBody>
          <a:bodyPr/>
          <a:lstStyle/>
          <a:p>
            <a:endParaRPr lang="en-US"/>
          </a:p>
        </p:txBody>
      </p:sp>
      <p:sp>
        <p:nvSpPr>
          <p:cNvPr id="7" name="Text 5"/>
          <p:cNvSpPr/>
          <p:nvPr/>
        </p:nvSpPr>
        <p:spPr>
          <a:xfrm>
            <a:off x="594360" y="6556248"/>
            <a:ext cx="8229600" cy="128016"/>
          </a:xfrm>
          <a:prstGeom prst="rect">
            <a:avLst/>
          </a:prstGeom>
          <a:noFill/>
          <a:ln/>
        </p:spPr>
        <p:txBody>
          <a:bodyPr wrap="square" lIns="0" tIns="0" rIns="0" bIns="0" rtlCol="0" anchor="ctr">
            <a:normAutofit/>
          </a:bodyPr>
          <a:lstStyle/>
          <a:p>
            <a:pPr marL="0" indent="0" algn="l">
              <a:buNone/>
            </a:pPr>
            <a:r>
              <a:rPr lang="en-US" sz="810" b="1" dirty="0">
                <a:solidFill>
                  <a:srgbClr val="5A6474"/>
                </a:solidFill>
                <a:latin typeface="Atkinson Hyperlegible Next" pitchFamily="34" charset="0"/>
                <a:ea typeface="Atkinson Hyperlegible Next" pitchFamily="34" charset="-122"/>
                <a:cs typeface="Atkinson Hyperlegible Next" pitchFamily="34" charset="-120"/>
              </a:rPr>
              <a:t>ROOTED · INNOVATE WITH DB 2026</a:t>
            </a:r>
            <a:endParaRPr lang="en-US" sz="810" dirty="0"/>
          </a:p>
        </p:txBody>
      </p:sp>
      <p:sp>
        <p:nvSpPr>
          <p:cNvPr id="8" name="Text 6"/>
          <p:cNvSpPr/>
          <p:nvPr/>
        </p:nvSpPr>
        <p:spPr>
          <a:xfrm>
            <a:off x="11064240" y="6537960"/>
            <a:ext cx="502920" cy="155448"/>
          </a:xfrm>
          <a:prstGeom prst="rect">
            <a:avLst/>
          </a:prstGeom>
          <a:noFill/>
          <a:ln/>
        </p:spPr>
        <p:txBody>
          <a:bodyPr wrap="square" lIns="0" tIns="0" rIns="0" bIns="0" rtlCol="0" anchor="ctr">
            <a:normAutofit/>
          </a:bodyPr>
          <a:lstStyle/>
          <a:p>
            <a:pPr marL="0" indent="0" algn="r">
              <a:buNone/>
            </a:pPr>
            <a:r>
              <a:rPr lang="en-US" sz="900" b="1" dirty="0">
                <a:solidFill>
                  <a:srgbClr val="5A6474"/>
                </a:solidFill>
                <a:latin typeface="Atkinson Hyperlegible Next" pitchFamily="34" charset="0"/>
                <a:ea typeface="Atkinson Hyperlegible Next" pitchFamily="34" charset="-122"/>
                <a:cs typeface="Atkinson Hyperlegible Next" pitchFamily="34" charset="-120"/>
              </a:rPr>
              <a:t>02</a:t>
            </a:r>
            <a:endParaRPr lang="en-US" sz="900" dirty="0"/>
          </a:p>
        </p:txBody>
      </p:sp>
      <p:sp>
        <p:nvSpPr>
          <p:cNvPr id="9" name="Shape 7"/>
          <p:cNvSpPr/>
          <p:nvPr/>
        </p:nvSpPr>
        <p:spPr>
          <a:xfrm>
            <a:off x="640080" y="2542032"/>
            <a:ext cx="3602736" cy="2551176"/>
          </a:xfrm>
          <a:prstGeom prst="roundRect">
            <a:avLst>
              <a:gd name="adj" fmla="val 2151"/>
            </a:avLst>
          </a:prstGeom>
          <a:solidFill>
            <a:srgbClr val="FFFFFF"/>
          </a:solidFill>
          <a:ln w="12700">
            <a:solidFill>
              <a:srgbClr val="FFFFFF">
                <a:alpha val="0"/>
              </a:srgbClr>
            </a:solidFill>
            <a:prstDash val="solid"/>
          </a:ln>
        </p:spPr>
        <p:txBody>
          <a:bodyPr/>
          <a:lstStyle/>
          <a:p>
            <a:endParaRPr lang="en-US"/>
          </a:p>
        </p:txBody>
      </p:sp>
      <p:sp>
        <p:nvSpPr>
          <p:cNvPr id="10" name="Shape 8"/>
          <p:cNvSpPr/>
          <p:nvPr/>
        </p:nvSpPr>
        <p:spPr>
          <a:xfrm>
            <a:off x="640080" y="2542032"/>
            <a:ext cx="3602736" cy="77724"/>
          </a:xfrm>
          <a:prstGeom prst="roundRect">
            <a:avLst>
              <a:gd name="adj" fmla="val 70588"/>
            </a:avLst>
          </a:prstGeom>
          <a:solidFill>
            <a:srgbClr val="1F5FBF"/>
          </a:solidFill>
          <a:ln w="12700">
            <a:solidFill>
              <a:srgbClr val="1F5FBF">
                <a:alpha val="0"/>
              </a:srgbClr>
            </a:solidFill>
            <a:prstDash val="solid"/>
          </a:ln>
        </p:spPr>
        <p:txBody>
          <a:bodyPr/>
          <a:lstStyle/>
          <a:p>
            <a:endParaRPr lang="en-US"/>
          </a:p>
        </p:txBody>
      </p:sp>
      <p:sp>
        <p:nvSpPr>
          <p:cNvPr id="11" name="Text 9"/>
          <p:cNvSpPr/>
          <p:nvPr/>
        </p:nvSpPr>
        <p:spPr>
          <a:xfrm>
            <a:off x="859536" y="2779776"/>
            <a:ext cx="548640" cy="420624"/>
          </a:xfrm>
          <a:prstGeom prst="rect">
            <a:avLst/>
          </a:prstGeom>
          <a:noFill/>
          <a:ln/>
        </p:spPr>
        <p:txBody>
          <a:bodyPr wrap="square" lIns="0" tIns="0" rIns="0" bIns="0" rtlCol="0" anchor="ctr">
            <a:normAutofit lnSpcReduction="10000"/>
          </a:bodyPr>
          <a:lstStyle/>
          <a:p>
            <a:pPr marL="0" indent="0" algn="l">
              <a:buNone/>
            </a:pPr>
            <a:r>
              <a:rPr lang="en-US" sz="2800" b="1" dirty="0">
                <a:solidFill>
                  <a:srgbClr val="1F5FBF"/>
                </a:solidFill>
                <a:latin typeface="Atkinson Hyperlegible Next" pitchFamily="34" charset="0"/>
                <a:ea typeface="Atkinson Hyperlegible Next" pitchFamily="34" charset="-122"/>
                <a:cs typeface="Atkinson Hyperlegible Next" pitchFamily="34" charset="-120"/>
              </a:rPr>
              <a:t>01</a:t>
            </a:r>
            <a:endParaRPr lang="en-US" sz="2800" dirty="0"/>
          </a:p>
        </p:txBody>
      </p:sp>
      <p:sp>
        <p:nvSpPr>
          <p:cNvPr id="12" name="Text 10"/>
          <p:cNvSpPr/>
          <p:nvPr/>
        </p:nvSpPr>
        <p:spPr>
          <a:xfrm>
            <a:off x="859536" y="3374136"/>
            <a:ext cx="3017520" cy="274320"/>
          </a:xfrm>
          <a:prstGeom prst="rect">
            <a:avLst/>
          </a:prstGeom>
          <a:noFill/>
          <a:ln/>
        </p:spPr>
        <p:txBody>
          <a:bodyPr wrap="square" lIns="0" tIns="0" rIns="0" bIns="0" rtlCol="0" anchor="ctr">
            <a:normAutofit/>
          </a:bodyPr>
          <a:lstStyle/>
          <a:p>
            <a:pPr marL="0" indent="0" algn="l">
              <a:buNone/>
            </a:pPr>
            <a:r>
              <a:rPr lang="en-US" sz="1700" b="1" dirty="0">
                <a:solidFill>
                  <a:srgbClr val="0F1B2D"/>
                </a:solidFill>
                <a:latin typeface="Atkinson Hyperlegible Next" pitchFamily="34" charset="0"/>
                <a:ea typeface="Atkinson Hyperlegible Next" pitchFamily="34" charset="-122"/>
                <a:cs typeface="Atkinson Hyperlegible Next" pitchFamily="34" charset="-120"/>
              </a:rPr>
              <a:t>COUNTRY</a:t>
            </a:r>
            <a:endParaRPr lang="en-US" sz="1700" dirty="0"/>
          </a:p>
        </p:txBody>
      </p:sp>
      <p:sp>
        <p:nvSpPr>
          <p:cNvPr id="13" name="Text 11"/>
          <p:cNvSpPr/>
          <p:nvPr/>
        </p:nvSpPr>
        <p:spPr>
          <a:xfrm>
            <a:off x="859536" y="3877056"/>
            <a:ext cx="3017520" cy="658368"/>
          </a:xfrm>
          <a:prstGeom prst="rect">
            <a:avLst/>
          </a:prstGeom>
          <a:noFill/>
          <a:ln/>
        </p:spPr>
        <p:txBody>
          <a:bodyPr wrap="square" lIns="0" tIns="0" rIns="0" bIns="0" rtlCol="0" anchor="ctr">
            <a:normAutofit/>
          </a:bodyPr>
          <a:lstStyle/>
          <a:p>
            <a:pPr marL="0" indent="0" algn="l">
              <a:buNone/>
            </a:pPr>
            <a:r>
              <a:rPr lang="en-US" sz="1600" dirty="0">
                <a:solidFill>
                  <a:srgbClr val="3B4656"/>
                </a:solidFill>
                <a:latin typeface="Atkinson Hyperlegible Next" pitchFamily="34" charset="0"/>
                <a:ea typeface="Atkinson Hyperlegible Next" pitchFamily="34" charset="-122"/>
                <a:cs typeface="Atkinson Hyperlegible Next" pitchFamily="34" charset="-120"/>
              </a:rPr>
              <a:t>Different products, protections, rates and common scams.</a:t>
            </a:r>
            <a:endParaRPr lang="en-US" sz="1600" dirty="0"/>
          </a:p>
        </p:txBody>
      </p:sp>
      <p:sp>
        <p:nvSpPr>
          <p:cNvPr id="14" name="Shape 12"/>
          <p:cNvSpPr/>
          <p:nvPr/>
        </p:nvSpPr>
        <p:spPr>
          <a:xfrm>
            <a:off x="4498848" y="2542032"/>
            <a:ext cx="3602736" cy="2551176"/>
          </a:xfrm>
          <a:prstGeom prst="roundRect">
            <a:avLst>
              <a:gd name="adj" fmla="val 2151"/>
            </a:avLst>
          </a:prstGeom>
          <a:solidFill>
            <a:srgbClr val="FFFFFF"/>
          </a:solidFill>
          <a:ln w="12700">
            <a:solidFill>
              <a:srgbClr val="FFFFFF">
                <a:alpha val="0"/>
              </a:srgbClr>
            </a:solidFill>
            <a:prstDash val="solid"/>
          </a:ln>
        </p:spPr>
        <p:txBody>
          <a:bodyPr/>
          <a:lstStyle/>
          <a:p>
            <a:endParaRPr lang="en-US"/>
          </a:p>
        </p:txBody>
      </p:sp>
      <p:sp>
        <p:nvSpPr>
          <p:cNvPr id="15" name="Shape 13"/>
          <p:cNvSpPr/>
          <p:nvPr/>
        </p:nvSpPr>
        <p:spPr>
          <a:xfrm>
            <a:off x="4498848" y="2542032"/>
            <a:ext cx="3602736" cy="77724"/>
          </a:xfrm>
          <a:prstGeom prst="roundRect">
            <a:avLst>
              <a:gd name="adj" fmla="val 70588"/>
            </a:avLst>
          </a:prstGeom>
          <a:solidFill>
            <a:srgbClr val="D6006F"/>
          </a:solidFill>
          <a:ln w="12700">
            <a:solidFill>
              <a:srgbClr val="D6006F">
                <a:alpha val="0"/>
              </a:srgbClr>
            </a:solidFill>
            <a:prstDash val="solid"/>
          </a:ln>
        </p:spPr>
        <p:txBody>
          <a:bodyPr/>
          <a:lstStyle/>
          <a:p>
            <a:endParaRPr lang="en-US"/>
          </a:p>
        </p:txBody>
      </p:sp>
      <p:sp>
        <p:nvSpPr>
          <p:cNvPr id="16" name="Text 14"/>
          <p:cNvSpPr/>
          <p:nvPr/>
        </p:nvSpPr>
        <p:spPr>
          <a:xfrm>
            <a:off x="4718304" y="2779776"/>
            <a:ext cx="548640" cy="420624"/>
          </a:xfrm>
          <a:prstGeom prst="rect">
            <a:avLst/>
          </a:prstGeom>
          <a:noFill/>
          <a:ln/>
        </p:spPr>
        <p:txBody>
          <a:bodyPr wrap="square" lIns="0" tIns="0" rIns="0" bIns="0" rtlCol="0" anchor="ctr">
            <a:normAutofit lnSpcReduction="10000"/>
          </a:bodyPr>
          <a:lstStyle/>
          <a:p>
            <a:pPr marL="0" indent="0" algn="l">
              <a:buNone/>
            </a:pPr>
            <a:r>
              <a:rPr lang="en-US" sz="2800" b="1" dirty="0">
                <a:solidFill>
                  <a:srgbClr val="D6006F"/>
                </a:solidFill>
                <a:latin typeface="Atkinson Hyperlegible Next" pitchFamily="34" charset="0"/>
                <a:ea typeface="Atkinson Hyperlegible Next" pitchFamily="34" charset="-122"/>
                <a:cs typeface="Atkinson Hyperlegible Next" pitchFamily="34" charset="-120"/>
              </a:rPr>
              <a:t>02</a:t>
            </a:r>
            <a:endParaRPr lang="en-US" sz="2800" dirty="0"/>
          </a:p>
        </p:txBody>
      </p:sp>
      <p:sp>
        <p:nvSpPr>
          <p:cNvPr id="17" name="Text 15"/>
          <p:cNvSpPr/>
          <p:nvPr/>
        </p:nvSpPr>
        <p:spPr>
          <a:xfrm>
            <a:off x="4718304" y="3374136"/>
            <a:ext cx="3017520" cy="274320"/>
          </a:xfrm>
          <a:prstGeom prst="rect">
            <a:avLst/>
          </a:prstGeom>
          <a:noFill/>
          <a:ln/>
        </p:spPr>
        <p:txBody>
          <a:bodyPr wrap="square" lIns="0" tIns="0" rIns="0" bIns="0" rtlCol="0" anchor="ctr">
            <a:normAutofit/>
          </a:bodyPr>
          <a:lstStyle/>
          <a:p>
            <a:pPr marL="0" indent="0" algn="l">
              <a:buNone/>
            </a:pPr>
            <a:r>
              <a:rPr lang="en-US" sz="1700" b="1" dirty="0">
                <a:solidFill>
                  <a:srgbClr val="0F1B2D"/>
                </a:solidFill>
                <a:latin typeface="Atkinson Hyperlegible Next" pitchFamily="34" charset="0"/>
                <a:ea typeface="Atkinson Hyperlegible Next" pitchFamily="34" charset="-122"/>
                <a:cs typeface="Atkinson Hyperlegible Next" pitchFamily="34" charset="-120"/>
              </a:rPr>
              <a:t>LANGUAGE</a:t>
            </a:r>
            <a:endParaRPr lang="en-US" sz="1700" dirty="0"/>
          </a:p>
        </p:txBody>
      </p:sp>
      <p:sp>
        <p:nvSpPr>
          <p:cNvPr id="18" name="Text 16"/>
          <p:cNvSpPr/>
          <p:nvPr/>
        </p:nvSpPr>
        <p:spPr>
          <a:xfrm>
            <a:off x="4718304" y="3877056"/>
            <a:ext cx="3017520" cy="658368"/>
          </a:xfrm>
          <a:prstGeom prst="rect">
            <a:avLst/>
          </a:prstGeom>
          <a:noFill/>
          <a:ln/>
        </p:spPr>
        <p:txBody>
          <a:bodyPr wrap="square" lIns="0" tIns="0" rIns="0" bIns="0" rtlCol="0" anchor="ctr">
            <a:normAutofit fontScale="92500"/>
          </a:bodyPr>
          <a:lstStyle/>
          <a:p>
            <a:pPr marL="0" indent="0" algn="l">
              <a:buNone/>
            </a:pPr>
            <a:r>
              <a:rPr lang="en-US" sz="1600" dirty="0">
                <a:solidFill>
                  <a:srgbClr val="3B4656"/>
                </a:solidFill>
                <a:latin typeface="Atkinson Hyperlegible Next" pitchFamily="34" charset="0"/>
                <a:ea typeface="Atkinson Hyperlegible Next" pitchFamily="34" charset="-122"/>
                <a:cs typeface="Atkinson Hyperlegible Next" pitchFamily="34" charset="-120"/>
              </a:rPr>
              <a:t>The same concept must stay clear across scripts and currencies.</a:t>
            </a:r>
            <a:endParaRPr lang="en-US" sz="1600" dirty="0"/>
          </a:p>
        </p:txBody>
      </p:sp>
      <p:sp>
        <p:nvSpPr>
          <p:cNvPr id="19" name="Shape 17"/>
          <p:cNvSpPr/>
          <p:nvPr/>
        </p:nvSpPr>
        <p:spPr>
          <a:xfrm>
            <a:off x="8357616" y="2542032"/>
            <a:ext cx="3602736" cy="2551176"/>
          </a:xfrm>
          <a:prstGeom prst="roundRect">
            <a:avLst>
              <a:gd name="adj" fmla="val 2151"/>
            </a:avLst>
          </a:prstGeom>
          <a:solidFill>
            <a:srgbClr val="FFFFFF"/>
          </a:solidFill>
          <a:ln w="12700">
            <a:solidFill>
              <a:srgbClr val="FFFFFF">
                <a:alpha val="0"/>
              </a:srgbClr>
            </a:solidFill>
            <a:prstDash val="solid"/>
          </a:ln>
        </p:spPr>
        <p:txBody>
          <a:bodyPr/>
          <a:lstStyle/>
          <a:p>
            <a:endParaRPr lang="en-US"/>
          </a:p>
        </p:txBody>
      </p:sp>
      <p:sp>
        <p:nvSpPr>
          <p:cNvPr id="20" name="Shape 18"/>
          <p:cNvSpPr/>
          <p:nvPr/>
        </p:nvSpPr>
        <p:spPr>
          <a:xfrm>
            <a:off x="8357616" y="2542032"/>
            <a:ext cx="3602736" cy="77724"/>
          </a:xfrm>
          <a:prstGeom prst="roundRect">
            <a:avLst>
              <a:gd name="adj" fmla="val 70588"/>
            </a:avLst>
          </a:prstGeom>
          <a:solidFill>
            <a:srgbClr val="127A4B"/>
          </a:solidFill>
          <a:ln w="12700">
            <a:solidFill>
              <a:srgbClr val="127A4B">
                <a:alpha val="0"/>
              </a:srgbClr>
            </a:solidFill>
            <a:prstDash val="solid"/>
          </a:ln>
        </p:spPr>
        <p:txBody>
          <a:bodyPr/>
          <a:lstStyle/>
          <a:p>
            <a:endParaRPr lang="en-US"/>
          </a:p>
        </p:txBody>
      </p:sp>
      <p:sp>
        <p:nvSpPr>
          <p:cNvPr id="21" name="Text 19"/>
          <p:cNvSpPr/>
          <p:nvPr/>
        </p:nvSpPr>
        <p:spPr>
          <a:xfrm>
            <a:off x="8577072" y="2779776"/>
            <a:ext cx="548640" cy="420624"/>
          </a:xfrm>
          <a:prstGeom prst="rect">
            <a:avLst/>
          </a:prstGeom>
          <a:noFill/>
          <a:ln/>
        </p:spPr>
        <p:txBody>
          <a:bodyPr wrap="square" lIns="0" tIns="0" rIns="0" bIns="0" rtlCol="0" anchor="ctr">
            <a:normAutofit lnSpcReduction="10000"/>
          </a:bodyPr>
          <a:lstStyle/>
          <a:p>
            <a:pPr marL="0" indent="0" algn="l">
              <a:buNone/>
            </a:pPr>
            <a:r>
              <a:rPr lang="en-US" sz="2800" b="1" dirty="0">
                <a:solidFill>
                  <a:srgbClr val="127A4B"/>
                </a:solidFill>
                <a:latin typeface="Atkinson Hyperlegible Next" pitchFamily="34" charset="0"/>
                <a:ea typeface="Atkinson Hyperlegible Next" pitchFamily="34" charset="-122"/>
                <a:cs typeface="Atkinson Hyperlegible Next" pitchFamily="34" charset="-120"/>
              </a:rPr>
              <a:t>03</a:t>
            </a:r>
            <a:endParaRPr lang="en-US" sz="2800" dirty="0"/>
          </a:p>
        </p:txBody>
      </p:sp>
      <p:sp>
        <p:nvSpPr>
          <p:cNvPr id="22" name="Text 20"/>
          <p:cNvSpPr/>
          <p:nvPr/>
        </p:nvSpPr>
        <p:spPr>
          <a:xfrm>
            <a:off x="8577072" y="3374136"/>
            <a:ext cx="3017520" cy="274320"/>
          </a:xfrm>
          <a:prstGeom prst="rect">
            <a:avLst/>
          </a:prstGeom>
          <a:noFill/>
          <a:ln/>
        </p:spPr>
        <p:txBody>
          <a:bodyPr wrap="square" lIns="0" tIns="0" rIns="0" bIns="0" rtlCol="0" anchor="ctr">
            <a:normAutofit/>
          </a:bodyPr>
          <a:lstStyle/>
          <a:p>
            <a:pPr marL="0" indent="0" algn="l">
              <a:buNone/>
            </a:pPr>
            <a:r>
              <a:rPr lang="en-US" sz="1700" b="1" dirty="0">
                <a:solidFill>
                  <a:srgbClr val="0F1B2D"/>
                </a:solidFill>
                <a:latin typeface="Atkinson Hyperlegible Next" pitchFamily="34" charset="0"/>
                <a:ea typeface="Atkinson Hyperlegible Next" pitchFamily="34" charset="-122"/>
                <a:cs typeface="Atkinson Hyperlegible Next" pitchFamily="34" charset="-120"/>
              </a:rPr>
              <a:t>LIFE STAGE</a:t>
            </a:r>
            <a:endParaRPr lang="en-US" sz="1700" dirty="0"/>
          </a:p>
        </p:txBody>
      </p:sp>
      <p:sp>
        <p:nvSpPr>
          <p:cNvPr id="23" name="Text 21"/>
          <p:cNvSpPr/>
          <p:nvPr/>
        </p:nvSpPr>
        <p:spPr>
          <a:xfrm>
            <a:off x="8577072" y="3877056"/>
            <a:ext cx="3017520" cy="658368"/>
          </a:xfrm>
          <a:prstGeom prst="rect">
            <a:avLst/>
          </a:prstGeom>
          <a:noFill/>
          <a:ln/>
        </p:spPr>
        <p:txBody>
          <a:bodyPr wrap="square" lIns="0" tIns="0" rIns="0" bIns="0" rtlCol="0" anchor="ctr">
            <a:normAutofit/>
          </a:bodyPr>
          <a:lstStyle/>
          <a:p>
            <a:pPr marL="0" indent="0" algn="l">
              <a:buNone/>
            </a:pPr>
            <a:r>
              <a:rPr lang="en-US" sz="1600" dirty="0">
                <a:solidFill>
                  <a:srgbClr val="3B4656"/>
                </a:solidFill>
                <a:latin typeface="Atkinson Hyperlegible Next" pitchFamily="34" charset="0"/>
                <a:ea typeface="Atkinson Hyperlegible Next" pitchFamily="34" charset="-122"/>
                <a:cs typeface="Atkinson Hyperlegible Next" pitchFamily="34" charset="-120"/>
              </a:rPr>
              <a:t>A 24-year-old and a 68-year-old need different starting points.</a:t>
            </a:r>
            <a:endParaRPr lang="en-US" sz="1600" dirty="0"/>
          </a:p>
        </p:txBody>
      </p:sp>
      <p:sp>
        <p:nvSpPr>
          <p:cNvPr id="24" name="Shape 22"/>
          <p:cNvSpPr/>
          <p:nvPr/>
        </p:nvSpPr>
        <p:spPr>
          <a:xfrm>
            <a:off x="640080" y="5385816"/>
            <a:ext cx="10945368" cy="658368"/>
          </a:xfrm>
          <a:prstGeom prst="roundRect">
            <a:avLst>
              <a:gd name="adj" fmla="val 8333"/>
            </a:avLst>
          </a:prstGeom>
          <a:solidFill>
            <a:srgbClr val="0F1B2D"/>
          </a:solidFill>
          <a:ln w="12700">
            <a:solidFill>
              <a:srgbClr val="0F1B2D">
                <a:alpha val="0"/>
              </a:srgbClr>
            </a:solidFill>
            <a:prstDash val="solid"/>
          </a:ln>
        </p:spPr>
        <p:txBody>
          <a:bodyPr/>
          <a:lstStyle/>
          <a:p>
            <a:endParaRPr lang="en-US"/>
          </a:p>
        </p:txBody>
      </p:sp>
      <p:sp>
        <p:nvSpPr>
          <p:cNvPr id="25" name="Text 23"/>
          <p:cNvSpPr/>
          <p:nvPr/>
        </p:nvSpPr>
        <p:spPr>
          <a:xfrm>
            <a:off x="932688" y="5522976"/>
            <a:ext cx="10268712" cy="356616"/>
          </a:xfrm>
          <a:prstGeom prst="rect">
            <a:avLst/>
          </a:prstGeom>
          <a:noFill/>
          <a:ln/>
        </p:spPr>
        <p:txBody>
          <a:bodyPr wrap="square" lIns="0" tIns="0" rIns="0" bIns="0" rtlCol="0" anchor="ctr">
            <a:normAutofit/>
          </a:bodyPr>
          <a:lstStyle/>
          <a:p>
            <a:pPr marL="0" indent="0" algn="ctr">
              <a:buNone/>
            </a:pPr>
            <a:r>
              <a:rPr lang="en-US" sz="1800" b="1" dirty="0">
                <a:solidFill>
                  <a:srgbClr val="FFFFFF"/>
                </a:solidFill>
                <a:latin typeface="Atkinson Hyperlegible Next" pitchFamily="34" charset="0"/>
                <a:ea typeface="Atkinson Hyperlegible Next" pitchFamily="34" charset="-122"/>
                <a:cs typeface="Atkinson Hyperlegible Next" pitchFamily="34" charset="-120"/>
              </a:rPr>
              <a:t>Rooted responds with localized facts + decisions you can practice and revisit.</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6">
    <p:bg>
      <p:bgPr>
        <a:solidFill>
          <a:srgbClr val="F2F3F0"/>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1FE2D86B-4C25-F531-C768-FB3E01E66BC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8">
    <p:bg>
      <p:bgPr>
        <a:solidFill>
          <a:srgbClr val="F2F3F0"/>
        </a:solidFill>
        <a:effectLst/>
      </p:bgPr>
    </p:bg>
    <p:spTree>
      <p:nvGrpSpPr>
        <p:cNvPr id="1" name=""/>
        <p:cNvGrpSpPr/>
        <p:nvPr/>
      </p:nvGrpSpPr>
      <p:grpSpPr>
        <a:xfrm>
          <a:off x="0" y="0"/>
          <a:ext cx="0" cy="0"/>
          <a:chOff x="0" y="0"/>
          <a:chExt cx="0" cy="0"/>
        </a:xfrm>
      </p:grpSpPr>
      <p:pic>
        <p:nvPicPr>
          <p:cNvPr id="2" name="Image 0" descr="/mnt/data/data-flow.sv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6660" y="0"/>
            <a:ext cx="10998679"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F3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7724"/>
          </a:xfrm>
          <a:prstGeom prst="rect">
            <a:avLst/>
          </a:prstGeom>
          <a:solidFill>
            <a:srgbClr val="127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 name="Connector 3"/>
          <p:cNvCxnSpPr/>
          <p:nvPr/>
        </p:nvCxnSpPr>
        <p:spPr>
          <a:xfrm>
            <a:off x="557784" y="347472"/>
            <a:ext cx="365760" cy="0"/>
          </a:xfrm>
          <a:prstGeom prst="line">
            <a:avLst/>
          </a:prstGeom>
          <a:ln w="38100">
            <a:solidFill>
              <a:srgbClr val="0F1B2D"/>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523951" y="277063"/>
            <a:ext cx="140817" cy="140817"/>
          </a:xfrm>
          <a:prstGeom prst="ellipse">
            <a:avLst/>
          </a:prstGeom>
          <a:solidFill>
            <a:srgbClr val="F2F3F0"/>
          </a:solidFill>
          <a:ln w="29209">
            <a:solidFill>
              <a:srgbClr val="0F1B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16559" y="277063"/>
            <a:ext cx="140817" cy="140817"/>
          </a:xfrm>
          <a:prstGeom prst="ellipse">
            <a:avLst/>
          </a:prstGeom>
          <a:solidFill>
            <a:srgbClr val="F2F3F0"/>
          </a:solidFill>
          <a:ln w="29209">
            <a:solidFill>
              <a:srgbClr val="0F1B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214884"/>
            <a:ext cx="2194560" cy="292608"/>
          </a:xfrm>
          <a:prstGeom prst="rect">
            <a:avLst/>
          </a:prstGeom>
          <a:noFill/>
        </p:spPr>
        <p:txBody>
          <a:bodyPr wrap="square" lIns="0" tIns="0" rIns="0" bIns="0" anchor="t">
            <a:spAutoFit/>
          </a:bodyPr>
          <a:lstStyle/>
          <a:p>
            <a:pPr algn="l"/>
            <a:r>
              <a:rPr sz="1400" b="1">
                <a:solidFill>
                  <a:srgbClr val="0F1B2D"/>
                </a:solidFill>
                <a:latin typeface="Noto Sans"/>
              </a:rPr>
              <a:t>ROOTED</a:t>
            </a:r>
          </a:p>
        </p:txBody>
      </p:sp>
      <p:sp>
        <p:nvSpPr>
          <p:cNvPr id="8" name="TextBox 7"/>
          <p:cNvSpPr txBox="1"/>
          <p:nvPr/>
        </p:nvSpPr>
        <p:spPr>
          <a:xfrm>
            <a:off x="7223760" y="233172"/>
            <a:ext cx="4343400" cy="237744"/>
          </a:xfrm>
          <a:prstGeom prst="rect">
            <a:avLst/>
          </a:prstGeom>
          <a:noFill/>
        </p:spPr>
        <p:txBody>
          <a:bodyPr wrap="square" lIns="0" tIns="0" rIns="0" bIns="0" anchor="t">
            <a:spAutoFit/>
          </a:bodyPr>
          <a:lstStyle/>
          <a:p>
            <a:pPr algn="r"/>
            <a:r>
              <a:rPr sz="1019" b="1">
                <a:solidFill>
                  <a:srgbClr val="5A6474"/>
                </a:solidFill>
                <a:latin typeface="Noto Sans"/>
              </a:rPr>
              <a:t>ENTERPRISE SCALABILITY · PROPOSED</a:t>
            </a:r>
          </a:p>
        </p:txBody>
      </p:sp>
      <p:sp>
        <p:nvSpPr>
          <p:cNvPr id="9" name="TextBox 8"/>
          <p:cNvSpPr txBox="1"/>
          <p:nvPr/>
        </p:nvSpPr>
        <p:spPr>
          <a:xfrm>
            <a:off x="566928" y="704088"/>
            <a:ext cx="11064240" cy="502920"/>
          </a:xfrm>
          <a:prstGeom prst="rect">
            <a:avLst/>
          </a:prstGeom>
          <a:noFill/>
        </p:spPr>
        <p:txBody>
          <a:bodyPr wrap="square" lIns="0" tIns="0" rIns="0" bIns="0" anchor="t">
            <a:spAutoFit/>
          </a:bodyPr>
          <a:lstStyle/>
          <a:p>
            <a:pPr algn="l"/>
            <a:r>
              <a:rPr sz="3050" b="1">
                <a:solidFill>
                  <a:srgbClr val="0F1B2D"/>
                </a:solidFill>
                <a:latin typeface="Noto Sans"/>
              </a:rPr>
              <a:t>Scale content once. Serve learners everywhere.</a:t>
            </a:r>
          </a:p>
        </p:txBody>
      </p:sp>
      <p:sp>
        <p:nvSpPr>
          <p:cNvPr id="10" name="TextBox 9"/>
          <p:cNvSpPr txBox="1"/>
          <p:nvPr/>
        </p:nvSpPr>
        <p:spPr>
          <a:xfrm>
            <a:off x="576072" y="1280160"/>
            <a:ext cx="10881360" cy="320040"/>
          </a:xfrm>
          <a:prstGeom prst="rect">
            <a:avLst/>
          </a:prstGeom>
          <a:noFill/>
        </p:spPr>
        <p:txBody>
          <a:bodyPr wrap="square" lIns="0" tIns="0" rIns="0" bIns="0" anchor="t">
            <a:spAutoFit/>
          </a:bodyPr>
          <a:lstStyle/>
          <a:p>
            <a:pPr algn="l"/>
            <a:r>
              <a:rPr sz="1410" b="0">
                <a:solidFill>
                  <a:srgbClr val="3B4656"/>
                </a:solidFill>
                <a:latin typeface="Noto Sans"/>
              </a:rPr>
              <a:t>A realistic path from hackathon MVP to a secure, resilient, high-traffic learning platform.</a:t>
            </a:r>
          </a:p>
        </p:txBody>
      </p:sp>
      <p:sp>
        <p:nvSpPr>
          <p:cNvPr id="11" name="TextBox 10"/>
          <p:cNvSpPr txBox="1"/>
          <p:nvPr/>
        </p:nvSpPr>
        <p:spPr>
          <a:xfrm>
            <a:off x="585216" y="1801368"/>
            <a:ext cx="4297680" cy="246888"/>
          </a:xfrm>
          <a:prstGeom prst="rect">
            <a:avLst/>
          </a:prstGeom>
          <a:noFill/>
        </p:spPr>
        <p:txBody>
          <a:bodyPr wrap="square" lIns="0" tIns="0" rIns="0" bIns="0" anchor="t">
            <a:spAutoFit/>
          </a:bodyPr>
          <a:lstStyle/>
          <a:p>
            <a:pPr algn="l"/>
            <a:r>
              <a:rPr sz="1110" b="1">
                <a:solidFill>
                  <a:srgbClr val="1F5FBF"/>
                </a:solidFill>
                <a:latin typeface="Noto Sans"/>
              </a:rPr>
              <a:t>01   LEARNER DELIVERY  /  CACHE FIRST</a:t>
            </a:r>
          </a:p>
        </p:txBody>
      </p:sp>
      <p:cxnSp>
        <p:nvCxnSpPr>
          <p:cNvPr id="12" name="Connector 11"/>
          <p:cNvCxnSpPr/>
          <p:nvPr/>
        </p:nvCxnSpPr>
        <p:spPr>
          <a:xfrm>
            <a:off x="1691640" y="2185416"/>
            <a:ext cx="8439912" cy="0"/>
          </a:xfrm>
          <a:prstGeom prst="line">
            <a:avLst/>
          </a:prstGeom>
          <a:ln w="63500">
            <a:solidFill>
              <a:srgbClr val="127A4B"/>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687068" y="2061972"/>
            <a:ext cx="246888" cy="246888"/>
          </a:xfrm>
          <a:prstGeom prst="ellipse">
            <a:avLst/>
          </a:prstGeom>
          <a:solidFill>
            <a:srgbClr val="FFFFFF"/>
          </a:solidFill>
          <a:ln w="38100">
            <a:solidFill>
              <a:srgbClr val="127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709928" y="2076602"/>
            <a:ext cx="201168" cy="201168"/>
          </a:xfrm>
          <a:prstGeom prst="rect">
            <a:avLst/>
          </a:prstGeom>
          <a:noFill/>
        </p:spPr>
        <p:txBody>
          <a:bodyPr wrap="square" lIns="0" tIns="0" rIns="0" bIns="0" anchor="t">
            <a:spAutoFit/>
          </a:bodyPr>
          <a:lstStyle/>
          <a:p>
            <a:pPr algn="ctr"/>
            <a:r>
              <a:rPr sz="1030" b="1">
                <a:solidFill>
                  <a:srgbClr val="127A4B"/>
                </a:solidFill>
                <a:latin typeface="Noto Sans"/>
              </a:rPr>
              <a:t>1</a:t>
            </a:r>
          </a:p>
        </p:txBody>
      </p:sp>
      <p:sp>
        <p:nvSpPr>
          <p:cNvPr id="15" name="Rounded Rectangle 14"/>
          <p:cNvSpPr/>
          <p:nvPr/>
        </p:nvSpPr>
        <p:spPr>
          <a:xfrm>
            <a:off x="585216" y="2377440"/>
            <a:ext cx="2450592" cy="1883664"/>
          </a:xfrm>
          <a:prstGeom prst="roundRect">
            <a:avLst>
              <a:gd name="adj" fmla="val 5000"/>
            </a:avLst>
          </a:prstGeom>
          <a:solidFill>
            <a:srgbClr val="FFFFFF"/>
          </a:solidFill>
          <a:ln w="11430">
            <a:solidFill>
              <a:srgbClr val="CED4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85216" y="2377440"/>
            <a:ext cx="2450592" cy="60350"/>
          </a:xfrm>
          <a:prstGeom prst="rect">
            <a:avLst/>
          </a:prstGeom>
          <a:solidFill>
            <a:srgbClr val="127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49808" y="2542032"/>
            <a:ext cx="2121408" cy="246888"/>
          </a:xfrm>
          <a:prstGeom prst="rect">
            <a:avLst/>
          </a:prstGeom>
          <a:noFill/>
        </p:spPr>
        <p:txBody>
          <a:bodyPr wrap="square" lIns="0" tIns="0" rIns="0" bIns="0" anchor="t">
            <a:spAutoFit/>
          </a:bodyPr>
          <a:lstStyle/>
          <a:p>
            <a:pPr algn="l"/>
            <a:r>
              <a:rPr sz="1010" b="1">
                <a:solidFill>
                  <a:srgbClr val="127A4B"/>
                </a:solidFill>
                <a:latin typeface="Noto Sans"/>
              </a:rPr>
              <a:t>BROWSER</a:t>
            </a:r>
          </a:p>
        </p:txBody>
      </p:sp>
      <p:sp>
        <p:nvSpPr>
          <p:cNvPr id="18" name="TextBox 17"/>
          <p:cNvSpPr txBox="1"/>
          <p:nvPr/>
        </p:nvSpPr>
        <p:spPr>
          <a:xfrm>
            <a:off x="749808" y="2834640"/>
            <a:ext cx="2139696" cy="658368"/>
          </a:xfrm>
          <a:prstGeom prst="rect">
            <a:avLst/>
          </a:prstGeom>
          <a:noFill/>
        </p:spPr>
        <p:txBody>
          <a:bodyPr wrap="square" lIns="0" tIns="0" rIns="0" bIns="0" anchor="t">
            <a:spAutoFit/>
          </a:bodyPr>
          <a:lstStyle/>
          <a:p>
            <a:pPr algn="l"/>
            <a:r>
              <a:rPr sz="1570" b="1">
                <a:solidFill>
                  <a:srgbClr val="0F1B2D"/>
                </a:solidFill>
                <a:latin typeface="Noto Sans"/>
              </a:rPr>
              <a:t>Browser-first learning</a:t>
            </a:r>
          </a:p>
        </p:txBody>
      </p:sp>
      <p:sp>
        <p:nvSpPr>
          <p:cNvPr id="19" name="TextBox 18"/>
          <p:cNvSpPr txBox="1"/>
          <p:nvPr/>
        </p:nvSpPr>
        <p:spPr>
          <a:xfrm>
            <a:off x="749808" y="3465576"/>
            <a:ext cx="2139696" cy="393192"/>
          </a:xfrm>
          <a:prstGeom prst="rect">
            <a:avLst/>
          </a:prstGeom>
          <a:noFill/>
        </p:spPr>
        <p:txBody>
          <a:bodyPr wrap="square" lIns="0" tIns="0" rIns="0" bIns="0" anchor="t">
            <a:spAutoFit/>
          </a:bodyPr>
          <a:lstStyle/>
          <a:p>
            <a:pPr algn="l"/>
            <a:r>
              <a:rPr sz="1150" b="0">
                <a:solidFill>
                  <a:srgbClr val="3B4656"/>
                </a:solidFill>
                <a:latin typeface="Noto Sans"/>
              </a:rPr>
              <a:t>Game, budget and progress
stay on the device.</a:t>
            </a:r>
          </a:p>
        </p:txBody>
      </p:sp>
      <p:sp>
        <p:nvSpPr>
          <p:cNvPr id="20" name="Rounded Rectangle 19"/>
          <p:cNvSpPr/>
          <p:nvPr/>
        </p:nvSpPr>
        <p:spPr>
          <a:xfrm>
            <a:off x="740664" y="3977639"/>
            <a:ext cx="2139696" cy="210312"/>
          </a:xfrm>
          <a:prstGeom prst="roundRect">
            <a:avLst>
              <a:gd name="adj" fmla="val 9000"/>
            </a:avLst>
          </a:prstGeom>
          <a:solidFill>
            <a:srgbClr val="D6E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13816" y="4006900"/>
            <a:ext cx="1993392" cy="128016"/>
          </a:xfrm>
          <a:prstGeom prst="rect">
            <a:avLst/>
          </a:prstGeom>
          <a:noFill/>
        </p:spPr>
        <p:txBody>
          <a:bodyPr wrap="square" lIns="0" tIns="0" rIns="0" bIns="0" anchor="t">
            <a:spAutoFit/>
          </a:bodyPr>
          <a:lstStyle/>
          <a:p>
            <a:pPr algn="l"/>
            <a:r>
              <a:rPr sz="910" b="1">
                <a:solidFill>
                  <a:srgbClr val="127A4B"/>
                </a:solidFill>
                <a:latin typeface="Noto Sans"/>
              </a:rPr>
              <a:t>No game server needed</a:t>
            </a:r>
          </a:p>
        </p:txBody>
      </p:sp>
      <p:sp>
        <p:nvSpPr>
          <p:cNvPr id="22" name="Oval 21"/>
          <p:cNvSpPr/>
          <p:nvPr/>
        </p:nvSpPr>
        <p:spPr>
          <a:xfrm>
            <a:off x="4393692" y="2061972"/>
            <a:ext cx="246888" cy="246888"/>
          </a:xfrm>
          <a:prstGeom prst="ellipse">
            <a:avLst/>
          </a:prstGeom>
          <a:solidFill>
            <a:srgbClr val="FFFFFF"/>
          </a:solidFill>
          <a:ln w="38100">
            <a:solidFill>
              <a:srgbClr val="127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416552" y="2076602"/>
            <a:ext cx="201168" cy="201168"/>
          </a:xfrm>
          <a:prstGeom prst="rect">
            <a:avLst/>
          </a:prstGeom>
          <a:noFill/>
        </p:spPr>
        <p:txBody>
          <a:bodyPr wrap="square" lIns="0" tIns="0" rIns="0" bIns="0" anchor="t">
            <a:spAutoFit/>
          </a:bodyPr>
          <a:lstStyle/>
          <a:p>
            <a:pPr algn="ctr"/>
            <a:r>
              <a:rPr sz="1030" b="1">
                <a:solidFill>
                  <a:srgbClr val="127A4B"/>
                </a:solidFill>
                <a:latin typeface="Noto Sans"/>
              </a:rPr>
              <a:t>2</a:t>
            </a:r>
          </a:p>
        </p:txBody>
      </p:sp>
      <p:sp>
        <p:nvSpPr>
          <p:cNvPr id="24" name="Rounded Rectangle 23"/>
          <p:cNvSpPr/>
          <p:nvPr/>
        </p:nvSpPr>
        <p:spPr>
          <a:xfrm>
            <a:off x="3291840" y="2377440"/>
            <a:ext cx="2450592" cy="1883664"/>
          </a:xfrm>
          <a:prstGeom prst="roundRect">
            <a:avLst>
              <a:gd name="adj" fmla="val 5000"/>
            </a:avLst>
          </a:prstGeom>
          <a:solidFill>
            <a:srgbClr val="FFFFFF"/>
          </a:solidFill>
          <a:ln w="11430">
            <a:solidFill>
              <a:srgbClr val="CED4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3291840" y="2377440"/>
            <a:ext cx="2450592" cy="60350"/>
          </a:xfrm>
          <a:prstGeom prst="rect">
            <a:avLst/>
          </a:prstGeom>
          <a:solidFill>
            <a:srgbClr val="1F5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456432" y="2542032"/>
            <a:ext cx="2121408" cy="246888"/>
          </a:xfrm>
          <a:prstGeom prst="rect">
            <a:avLst/>
          </a:prstGeom>
          <a:noFill/>
        </p:spPr>
        <p:txBody>
          <a:bodyPr wrap="square" lIns="0" tIns="0" rIns="0" bIns="0" anchor="t">
            <a:spAutoFit/>
          </a:bodyPr>
          <a:lstStyle/>
          <a:p>
            <a:pPr algn="l"/>
            <a:r>
              <a:rPr sz="1010" b="1">
                <a:solidFill>
                  <a:srgbClr val="1F5FBF"/>
                </a:solidFill>
                <a:latin typeface="Noto Sans"/>
              </a:rPr>
              <a:t>EDGE</a:t>
            </a:r>
          </a:p>
        </p:txBody>
      </p:sp>
      <p:sp>
        <p:nvSpPr>
          <p:cNvPr id="27" name="TextBox 26"/>
          <p:cNvSpPr txBox="1"/>
          <p:nvPr/>
        </p:nvSpPr>
        <p:spPr>
          <a:xfrm>
            <a:off x="3456432" y="2834640"/>
            <a:ext cx="2139696" cy="658368"/>
          </a:xfrm>
          <a:prstGeom prst="rect">
            <a:avLst/>
          </a:prstGeom>
          <a:noFill/>
        </p:spPr>
        <p:txBody>
          <a:bodyPr wrap="square" lIns="0" tIns="0" rIns="0" bIns="0" anchor="t">
            <a:spAutoFit/>
          </a:bodyPr>
          <a:lstStyle/>
          <a:p>
            <a:pPr algn="l"/>
            <a:r>
              <a:rPr sz="1570" b="1">
                <a:solidFill>
                  <a:srgbClr val="0F1B2D"/>
                </a:solidFill>
                <a:latin typeface="Noto Sans"/>
              </a:rPr>
              <a:t>CDN + Cloud Armor</a:t>
            </a:r>
          </a:p>
        </p:txBody>
      </p:sp>
      <p:sp>
        <p:nvSpPr>
          <p:cNvPr id="28" name="TextBox 27"/>
          <p:cNvSpPr txBox="1"/>
          <p:nvPr/>
        </p:nvSpPr>
        <p:spPr>
          <a:xfrm>
            <a:off x="3456432" y="3465576"/>
            <a:ext cx="2139696" cy="393192"/>
          </a:xfrm>
          <a:prstGeom prst="rect">
            <a:avLst/>
          </a:prstGeom>
          <a:noFill/>
        </p:spPr>
        <p:txBody>
          <a:bodyPr wrap="square" lIns="0" tIns="0" rIns="0" bIns="0" anchor="t">
            <a:spAutoFit/>
          </a:bodyPr>
          <a:lstStyle/>
          <a:p>
            <a:pPr algn="l"/>
            <a:r>
              <a:rPr sz="1150" b="0">
                <a:solidFill>
                  <a:srgbClr val="3B4656"/>
                </a:solidFill>
                <a:latin typeface="Noto Sans"/>
              </a:rPr>
              <a:t>Cache approved lessons;
rate-limit API requests.</a:t>
            </a:r>
          </a:p>
        </p:txBody>
      </p:sp>
      <p:sp>
        <p:nvSpPr>
          <p:cNvPr id="29" name="Rounded Rectangle 28"/>
          <p:cNvSpPr/>
          <p:nvPr/>
        </p:nvSpPr>
        <p:spPr>
          <a:xfrm>
            <a:off x="3447288" y="3977639"/>
            <a:ext cx="2139696" cy="210312"/>
          </a:xfrm>
          <a:prstGeom prst="roundRect">
            <a:avLst>
              <a:gd name="adj" fmla="val 9000"/>
            </a:avLst>
          </a:prstGeom>
          <a:solidFill>
            <a:srgbClr val="DBE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520440" y="4006900"/>
            <a:ext cx="1993392" cy="128016"/>
          </a:xfrm>
          <a:prstGeom prst="rect">
            <a:avLst/>
          </a:prstGeom>
          <a:noFill/>
        </p:spPr>
        <p:txBody>
          <a:bodyPr wrap="square" lIns="0" tIns="0" rIns="0" bIns="0" anchor="t">
            <a:spAutoFit/>
          </a:bodyPr>
          <a:lstStyle/>
          <a:p>
            <a:pPr algn="l"/>
            <a:r>
              <a:rPr sz="910" b="1">
                <a:solidFill>
                  <a:srgbClr val="1F5FBF"/>
                </a:solidFill>
                <a:latin typeface="Noto Sans"/>
              </a:rPr>
              <a:t>Cache absorbs most traffic</a:t>
            </a:r>
          </a:p>
        </p:txBody>
      </p:sp>
      <p:sp>
        <p:nvSpPr>
          <p:cNvPr id="31" name="Oval 30"/>
          <p:cNvSpPr/>
          <p:nvPr/>
        </p:nvSpPr>
        <p:spPr>
          <a:xfrm>
            <a:off x="7100316" y="2061972"/>
            <a:ext cx="246888" cy="246888"/>
          </a:xfrm>
          <a:prstGeom prst="ellipse">
            <a:avLst/>
          </a:prstGeom>
          <a:solidFill>
            <a:srgbClr val="FFFFFF"/>
          </a:solidFill>
          <a:ln w="38100">
            <a:solidFill>
              <a:srgbClr val="127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123175" y="2076602"/>
            <a:ext cx="201168" cy="201168"/>
          </a:xfrm>
          <a:prstGeom prst="rect">
            <a:avLst/>
          </a:prstGeom>
          <a:noFill/>
        </p:spPr>
        <p:txBody>
          <a:bodyPr wrap="square" lIns="0" tIns="0" rIns="0" bIns="0" anchor="t">
            <a:spAutoFit/>
          </a:bodyPr>
          <a:lstStyle/>
          <a:p>
            <a:pPr algn="ctr"/>
            <a:r>
              <a:rPr sz="1030" b="1">
                <a:solidFill>
                  <a:srgbClr val="127A4B"/>
                </a:solidFill>
                <a:latin typeface="Noto Sans"/>
              </a:rPr>
              <a:t>3</a:t>
            </a:r>
          </a:p>
        </p:txBody>
      </p:sp>
      <p:sp>
        <p:nvSpPr>
          <p:cNvPr id="33" name="Rounded Rectangle 32"/>
          <p:cNvSpPr/>
          <p:nvPr/>
        </p:nvSpPr>
        <p:spPr>
          <a:xfrm>
            <a:off x="5998464" y="2377440"/>
            <a:ext cx="2450592" cy="1883664"/>
          </a:xfrm>
          <a:prstGeom prst="roundRect">
            <a:avLst>
              <a:gd name="adj" fmla="val 5000"/>
            </a:avLst>
          </a:prstGeom>
          <a:solidFill>
            <a:srgbClr val="FFFFFF"/>
          </a:solidFill>
          <a:ln w="11430">
            <a:solidFill>
              <a:srgbClr val="CED4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5998464" y="2377440"/>
            <a:ext cx="2450592" cy="60350"/>
          </a:xfrm>
          <a:prstGeom prst="rect">
            <a:avLst/>
          </a:prstGeom>
          <a:solidFill>
            <a:srgbClr val="1F5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163055" y="2542032"/>
            <a:ext cx="2121408" cy="246888"/>
          </a:xfrm>
          <a:prstGeom prst="rect">
            <a:avLst/>
          </a:prstGeom>
          <a:noFill/>
        </p:spPr>
        <p:txBody>
          <a:bodyPr wrap="square" lIns="0" tIns="0" rIns="0" bIns="0" anchor="t">
            <a:spAutoFit/>
          </a:bodyPr>
          <a:lstStyle/>
          <a:p>
            <a:pPr algn="l"/>
            <a:r>
              <a:rPr sz="1010" b="1">
                <a:solidFill>
                  <a:srgbClr val="1F5FBF"/>
                </a:solidFill>
                <a:latin typeface="Noto Sans"/>
              </a:rPr>
              <a:t>APPLICATION</a:t>
            </a:r>
          </a:p>
        </p:txBody>
      </p:sp>
      <p:sp>
        <p:nvSpPr>
          <p:cNvPr id="36" name="TextBox 35"/>
          <p:cNvSpPr txBox="1"/>
          <p:nvPr/>
        </p:nvSpPr>
        <p:spPr>
          <a:xfrm>
            <a:off x="6163055" y="2834640"/>
            <a:ext cx="2139696" cy="658368"/>
          </a:xfrm>
          <a:prstGeom prst="rect">
            <a:avLst/>
          </a:prstGeom>
          <a:noFill/>
        </p:spPr>
        <p:txBody>
          <a:bodyPr wrap="square" lIns="0" tIns="0" rIns="0" bIns="0" anchor="t">
            <a:spAutoFit/>
          </a:bodyPr>
          <a:lstStyle/>
          <a:p>
            <a:pPr algn="l"/>
            <a:r>
              <a:rPr sz="1570" b="1">
                <a:solidFill>
                  <a:srgbClr val="0F1B2D"/>
                </a:solidFill>
                <a:latin typeface="Noto Sans"/>
              </a:rPr>
              <a:t>Autoscaling Cloud Run</a:t>
            </a:r>
          </a:p>
        </p:txBody>
      </p:sp>
      <p:sp>
        <p:nvSpPr>
          <p:cNvPr id="37" name="TextBox 36"/>
          <p:cNvSpPr txBox="1"/>
          <p:nvPr/>
        </p:nvSpPr>
        <p:spPr>
          <a:xfrm>
            <a:off x="6163055" y="3465576"/>
            <a:ext cx="2139696" cy="393192"/>
          </a:xfrm>
          <a:prstGeom prst="rect">
            <a:avLst/>
          </a:prstGeom>
          <a:noFill/>
        </p:spPr>
        <p:txBody>
          <a:bodyPr wrap="square" lIns="0" tIns="0" rIns="0" bIns="0" anchor="t">
            <a:spAutoFit/>
          </a:bodyPr>
          <a:lstStyle/>
          <a:p>
            <a:pPr algn="l"/>
            <a:r>
              <a:rPr sz="1150" b="0">
                <a:solidFill>
                  <a:srgbClr val="3B4656"/>
                </a:solidFill>
                <a:latin typeface="Noto Sans"/>
              </a:rPr>
              <a:t>Stateless Next.js API;
auto-scale on demand.</a:t>
            </a:r>
          </a:p>
        </p:txBody>
      </p:sp>
      <p:sp>
        <p:nvSpPr>
          <p:cNvPr id="38" name="Rounded Rectangle 37"/>
          <p:cNvSpPr/>
          <p:nvPr/>
        </p:nvSpPr>
        <p:spPr>
          <a:xfrm>
            <a:off x="6153912" y="3977639"/>
            <a:ext cx="2139696" cy="210312"/>
          </a:xfrm>
          <a:prstGeom prst="roundRect">
            <a:avLst>
              <a:gd name="adj" fmla="val 9000"/>
            </a:avLst>
          </a:prstGeom>
          <a:solidFill>
            <a:srgbClr val="DBE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227064" y="4006900"/>
            <a:ext cx="1993392" cy="128016"/>
          </a:xfrm>
          <a:prstGeom prst="rect">
            <a:avLst/>
          </a:prstGeom>
          <a:noFill/>
        </p:spPr>
        <p:txBody>
          <a:bodyPr wrap="square" lIns="0" tIns="0" rIns="0" bIns="0" anchor="t">
            <a:spAutoFit/>
          </a:bodyPr>
          <a:lstStyle/>
          <a:p>
            <a:pPr algn="l"/>
            <a:r>
              <a:rPr sz="910" b="1">
                <a:solidFill>
                  <a:srgbClr val="1F5FBF"/>
                </a:solidFill>
                <a:latin typeface="Noto Sans"/>
              </a:rPr>
              <a:t>Cost-limited autoscaling</a:t>
            </a:r>
          </a:p>
        </p:txBody>
      </p:sp>
      <p:sp>
        <p:nvSpPr>
          <p:cNvPr id="40" name="Oval 39"/>
          <p:cNvSpPr/>
          <p:nvPr/>
        </p:nvSpPr>
        <p:spPr>
          <a:xfrm>
            <a:off x="10030968" y="2061972"/>
            <a:ext cx="246888" cy="246888"/>
          </a:xfrm>
          <a:prstGeom prst="ellipse">
            <a:avLst/>
          </a:prstGeom>
          <a:solidFill>
            <a:srgbClr val="FFFFFF"/>
          </a:solidFill>
          <a:ln w="38100">
            <a:solidFill>
              <a:srgbClr val="127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0053828" y="2076602"/>
            <a:ext cx="201168" cy="201168"/>
          </a:xfrm>
          <a:prstGeom prst="rect">
            <a:avLst/>
          </a:prstGeom>
          <a:noFill/>
        </p:spPr>
        <p:txBody>
          <a:bodyPr wrap="square" lIns="0" tIns="0" rIns="0" bIns="0" anchor="t">
            <a:spAutoFit/>
          </a:bodyPr>
          <a:lstStyle/>
          <a:p>
            <a:pPr algn="ctr"/>
            <a:r>
              <a:rPr sz="1030" b="1">
                <a:solidFill>
                  <a:srgbClr val="127A4B"/>
                </a:solidFill>
                <a:latin typeface="Noto Sans"/>
              </a:rPr>
              <a:t>4</a:t>
            </a:r>
          </a:p>
        </p:txBody>
      </p:sp>
      <p:sp>
        <p:nvSpPr>
          <p:cNvPr id="42" name="Rounded Rectangle 41"/>
          <p:cNvSpPr/>
          <p:nvPr/>
        </p:nvSpPr>
        <p:spPr>
          <a:xfrm>
            <a:off x="8705088" y="2377440"/>
            <a:ext cx="2898648" cy="1883664"/>
          </a:xfrm>
          <a:prstGeom prst="roundRect">
            <a:avLst>
              <a:gd name="adj" fmla="val 5000"/>
            </a:avLst>
          </a:prstGeom>
          <a:solidFill>
            <a:srgbClr val="FFFFFF"/>
          </a:solidFill>
          <a:ln w="11430">
            <a:solidFill>
              <a:srgbClr val="CED4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8705088" y="2377440"/>
            <a:ext cx="2898648" cy="60350"/>
          </a:xfrm>
          <a:prstGeom prst="rect">
            <a:avLst/>
          </a:prstGeom>
          <a:solidFill>
            <a:srgbClr val="127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869680" y="2542032"/>
            <a:ext cx="2569464" cy="246888"/>
          </a:xfrm>
          <a:prstGeom prst="rect">
            <a:avLst/>
          </a:prstGeom>
          <a:noFill/>
        </p:spPr>
        <p:txBody>
          <a:bodyPr wrap="square" lIns="0" tIns="0" rIns="0" bIns="0" anchor="t">
            <a:spAutoFit/>
          </a:bodyPr>
          <a:lstStyle/>
          <a:p>
            <a:pPr algn="l"/>
            <a:r>
              <a:rPr sz="1010" b="1">
                <a:solidFill>
                  <a:srgbClr val="127A4B"/>
                </a:solidFill>
                <a:latin typeface="Noto Sans"/>
              </a:rPr>
              <a:t>CONTENT</a:t>
            </a:r>
          </a:p>
        </p:txBody>
      </p:sp>
      <p:sp>
        <p:nvSpPr>
          <p:cNvPr id="45" name="TextBox 44"/>
          <p:cNvSpPr txBox="1"/>
          <p:nvPr/>
        </p:nvSpPr>
        <p:spPr>
          <a:xfrm>
            <a:off x="8869680" y="2834640"/>
            <a:ext cx="2587752" cy="658368"/>
          </a:xfrm>
          <a:prstGeom prst="rect">
            <a:avLst/>
          </a:prstGeom>
          <a:noFill/>
        </p:spPr>
        <p:txBody>
          <a:bodyPr wrap="square" lIns="0" tIns="0" rIns="0" bIns="0" anchor="t">
            <a:spAutoFit/>
          </a:bodyPr>
          <a:lstStyle/>
          <a:p>
            <a:pPr algn="l"/>
            <a:r>
              <a:rPr sz="1570" b="1" dirty="0">
                <a:solidFill>
                  <a:srgbClr val="0F1B2D"/>
                </a:solidFill>
                <a:latin typeface="Noto Sans"/>
              </a:rPr>
              <a:t>Shared lesson catalog</a:t>
            </a:r>
          </a:p>
        </p:txBody>
      </p:sp>
      <p:sp>
        <p:nvSpPr>
          <p:cNvPr id="46" name="TextBox 45"/>
          <p:cNvSpPr txBox="1"/>
          <p:nvPr/>
        </p:nvSpPr>
        <p:spPr>
          <a:xfrm>
            <a:off x="8869680" y="3465576"/>
            <a:ext cx="2587752" cy="353943"/>
          </a:xfrm>
          <a:prstGeom prst="rect">
            <a:avLst/>
          </a:prstGeom>
          <a:noFill/>
        </p:spPr>
        <p:txBody>
          <a:bodyPr wrap="square" lIns="0" tIns="0" rIns="0" bIns="0" anchor="t">
            <a:spAutoFit/>
          </a:bodyPr>
          <a:lstStyle/>
          <a:p>
            <a:pPr algn="l"/>
            <a:r>
              <a:rPr sz="1150" b="0" dirty="0">
                <a:solidFill>
                  <a:srgbClr val="3B4656"/>
                </a:solidFill>
                <a:latin typeface="Noto Sans"/>
              </a:rPr>
              <a:t>Cloud Storage +</a:t>
            </a:r>
            <a:r>
              <a:rPr lang="en-US" sz="1150" dirty="0">
                <a:solidFill>
                  <a:srgbClr val="3B4656"/>
                </a:solidFill>
                <a:latin typeface="Noto Sans"/>
              </a:rPr>
              <a:t> Redis</a:t>
            </a:r>
            <a:r>
              <a:rPr sz="1150" b="0" dirty="0">
                <a:solidFill>
                  <a:srgbClr val="3B4656"/>
                </a:solidFill>
                <a:latin typeface="Noto Sans"/>
              </a:rPr>
              <a:t>;
versioned, reviewed content.</a:t>
            </a:r>
          </a:p>
        </p:txBody>
      </p:sp>
      <p:sp>
        <p:nvSpPr>
          <p:cNvPr id="47" name="Rounded Rectangle 46"/>
          <p:cNvSpPr/>
          <p:nvPr/>
        </p:nvSpPr>
        <p:spPr>
          <a:xfrm>
            <a:off x="8860536" y="3977639"/>
            <a:ext cx="2587752" cy="210312"/>
          </a:xfrm>
          <a:prstGeom prst="roundRect">
            <a:avLst>
              <a:gd name="adj" fmla="val 9000"/>
            </a:avLst>
          </a:prstGeom>
          <a:solidFill>
            <a:srgbClr val="D6E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933688" y="4006900"/>
            <a:ext cx="2441448" cy="128016"/>
          </a:xfrm>
          <a:prstGeom prst="rect">
            <a:avLst/>
          </a:prstGeom>
          <a:noFill/>
        </p:spPr>
        <p:txBody>
          <a:bodyPr wrap="square" lIns="0" tIns="0" rIns="0" bIns="0" anchor="t">
            <a:spAutoFit/>
          </a:bodyPr>
          <a:lstStyle/>
          <a:p>
            <a:pPr algn="l"/>
            <a:r>
              <a:rPr sz="910" b="1">
                <a:solidFill>
                  <a:srgbClr val="127A4B"/>
                </a:solidFill>
                <a:latin typeface="Noto Sans"/>
              </a:rPr>
              <a:t>Regional data controls</a:t>
            </a:r>
          </a:p>
        </p:txBody>
      </p:sp>
      <p:sp>
        <p:nvSpPr>
          <p:cNvPr id="49" name="TextBox 48"/>
          <p:cNvSpPr txBox="1"/>
          <p:nvPr/>
        </p:nvSpPr>
        <p:spPr>
          <a:xfrm>
            <a:off x="585216" y="4517136"/>
            <a:ext cx="5394960" cy="228600"/>
          </a:xfrm>
          <a:prstGeom prst="rect">
            <a:avLst/>
          </a:prstGeom>
          <a:noFill/>
        </p:spPr>
        <p:txBody>
          <a:bodyPr wrap="square" lIns="0" tIns="0" rIns="0" bIns="0" anchor="t">
            <a:spAutoFit/>
          </a:bodyPr>
          <a:lstStyle/>
          <a:p>
            <a:pPr algn="l"/>
            <a:r>
              <a:rPr sz="1110" b="1">
                <a:solidFill>
                  <a:srgbClr val="1F5FBF"/>
                </a:solidFill>
                <a:latin typeface="Noto Sans"/>
              </a:rPr>
              <a:t>02   CONTENT CREATION  /  ASYNCHRONOUS</a:t>
            </a:r>
          </a:p>
        </p:txBody>
      </p:sp>
      <p:sp>
        <p:nvSpPr>
          <p:cNvPr id="50" name="TextBox 49"/>
          <p:cNvSpPr txBox="1"/>
          <p:nvPr/>
        </p:nvSpPr>
        <p:spPr>
          <a:xfrm>
            <a:off x="7424927" y="4517136"/>
            <a:ext cx="4151376" cy="228600"/>
          </a:xfrm>
          <a:prstGeom prst="rect">
            <a:avLst/>
          </a:prstGeom>
          <a:noFill/>
        </p:spPr>
        <p:txBody>
          <a:bodyPr wrap="square" lIns="0" tIns="0" rIns="0" bIns="0" anchor="t">
            <a:spAutoFit/>
          </a:bodyPr>
          <a:lstStyle/>
          <a:p>
            <a:pPr algn="r"/>
            <a:r>
              <a:rPr sz="1050" b="1">
                <a:solidFill>
                  <a:srgbClr val="127A4B"/>
                </a:solidFill>
                <a:latin typeface="Noto Sans"/>
              </a:rPr>
              <a:t>NO LIVE LLM CALL PER LEARNER</a:t>
            </a:r>
          </a:p>
        </p:txBody>
      </p:sp>
      <p:sp>
        <p:nvSpPr>
          <p:cNvPr id="51" name="Rounded Rectangle 50"/>
          <p:cNvSpPr/>
          <p:nvPr/>
        </p:nvSpPr>
        <p:spPr>
          <a:xfrm>
            <a:off x="585216" y="4864608"/>
            <a:ext cx="2404872" cy="768096"/>
          </a:xfrm>
          <a:prstGeom prst="roundRect">
            <a:avLst>
              <a:gd name="adj" fmla="val 8000"/>
            </a:avLst>
          </a:prstGeom>
          <a:solidFill>
            <a:srgbClr val="E6E8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731520" y="4965192"/>
            <a:ext cx="2112264" cy="237744"/>
          </a:xfrm>
          <a:prstGeom prst="rect">
            <a:avLst/>
          </a:prstGeom>
          <a:noFill/>
        </p:spPr>
        <p:txBody>
          <a:bodyPr wrap="square" lIns="0" tIns="0" rIns="0" bIns="0" anchor="t">
            <a:spAutoFit/>
          </a:bodyPr>
          <a:lstStyle/>
          <a:p>
            <a:pPr algn="l"/>
            <a:r>
              <a:rPr sz="1330" b="1">
                <a:solidFill>
                  <a:srgbClr val="0F1B2D"/>
                </a:solidFill>
                <a:latin typeface="Noto Sans"/>
              </a:rPr>
              <a:t>Verified country facts</a:t>
            </a:r>
          </a:p>
        </p:txBody>
      </p:sp>
      <p:sp>
        <p:nvSpPr>
          <p:cNvPr id="53" name="TextBox 52"/>
          <p:cNvSpPr txBox="1"/>
          <p:nvPr/>
        </p:nvSpPr>
        <p:spPr>
          <a:xfrm>
            <a:off x="731520" y="5294376"/>
            <a:ext cx="2112264" cy="182880"/>
          </a:xfrm>
          <a:prstGeom prst="rect">
            <a:avLst/>
          </a:prstGeom>
          <a:noFill/>
        </p:spPr>
        <p:txBody>
          <a:bodyPr wrap="square" lIns="0" tIns="0" rIns="0" bIns="0" anchor="t">
            <a:spAutoFit/>
          </a:bodyPr>
          <a:lstStyle/>
          <a:p>
            <a:pPr algn="l"/>
            <a:r>
              <a:rPr sz="1030" b="0">
                <a:solidFill>
                  <a:srgbClr val="3B4656"/>
                </a:solidFill>
                <a:latin typeface="Noto Sans"/>
              </a:rPr>
              <a:t>Sources + verified dates</a:t>
            </a:r>
          </a:p>
        </p:txBody>
      </p:sp>
      <p:sp>
        <p:nvSpPr>
          <p:cNvPr id="54" name="Rounded Rectangle 53"/>
          <p:cNvSpPr/>
          <p:nvPr/>
        </p:nvSpPr>
        <p:spPr>
          <a:xfrm>
            <a:off x="3364992" y="4864608"/>
            <a:ext cx="2404872" cy="768096"/>
          </a:xfrm>
          <a:prstGeom prst="roundRect">
            <a:avLst>
              <a:gd name="adj" fmla="val 8000"/>
            </a:avLst>
          </a:prstGeom>
          <a:solidFill>
            <a:srgbClr val="DBE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3511296" y="4965192"/>
            <a:ext cx="2112264" cy="237744"/>
          </a:xfrm>
          <a:prstGeom prst="rect">
            <a:avLst/>
          </a:prstGeom>
          <a:noFill/>
        </p:spPr>
        <p:txBody>
          <a:bodyPr wrap="square" lIns="0" tIns="0" rIns="0" bIns="0" anchor="t">
            <a:spAutoFit/>
          </a:bodyPr>
          <a:lstStyle/>
          <a:p>
            <a:pPr algn="l"/>
            <a:r>
              <a:rPr sz="1330" b="1">
                <a:solidFill>
                  <a:srgbClr val="0F1B2D"/>
                </a:solidFill>
                <a:latin typeface="Noto Sans"/>
              </a:rPr>
              <a:t>Queued AI drafts</a:t>
            </a:r>
          </a:p>
        </p:txBody>
      </p:sp>
      <p:sp>
        <p:nvSpPr>
          <p:cNvPr id="56" name="TextBox 55"/>
          <p:cNvSpPr txBox="1"/>
          <p:nvPr/>
        </p:nvSpPr>
        <p:spPr>
          <a:xfrm>
            <a:off x="3511296" y="5294376"/>
            <a:ext cx="2112264" cy="182880"/>
          </a:xfrm>
          <a:prstGeom prst="rect">
            <a:avLst/>
          </a:prstGeom>
          <a:noFill/>
        </p:spPr>
        <p:txBody>
          <a:bodyPr wrap="square" lIns="0" tIns="0" rIns="0" bIns="0" anchor="t">
            <a:spAutoFit/>
          </a:bodyPr>
          <a:lstStyle/>
          <a:p>
            <a:pPr algn="l"/>
            <a:r>
              <a:rPr sz="1030" b="0">
                <a:solidFill>
                  <a:srgbClr val="3B4656"/>
                </a:solidFill>
                <a:latin typeface="Noto Sans"/>
              </a:rPr>
              <a:t>Cloud Tasks + EU model</a:t>
            </a:r>
          </a:p>
        </p:txBody>
      </p:sp>
      <p:sp>
        <p:nvSpPr>
          <p:cNvPr id="57" name="Rounded Rectangle 56"/>
          <p:cNvSpPr/>
          <p:nvPr/>
        </p:nvSpPr>
        <p:spPr>
          <a:xfrm>
            <a:off x="6144768" y="4864608"/>
            <a:ext cx="2404872" cy="768096"/>
          </a:xfrm>
          <a:prstGeom prst="roundRect">
            <a:avLst>
              <a:gd name="adj" fmla="val 8000"/>
            </a:avLst>
          </a:prstGeom>
          <a:solidFill>
            <a:srgbClr val="FBF0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6291072" y="4965192"/>
            <a:ext cx="2112264" cy="237744"/>
          </a:xfrm>
          <a:prstGeom prst="rect">
            <a:avLst/>
          </a:prstGeom>
          <a:noFill/>
        </p:spPr>
        <p:txBody>
          <a:bodyPr wrap="square" lIns="0" tIns="0" rIns="0" bIns="0" anchor="t">
            <a:spAutoFit/>
          </a:bodyPr>
          <a:lstStyle/>
          <a:p>
            <a:pPr algn="l"/>
            <a:r>
              <a:rPr sz="1330" b="1">
                <a:solidFill>
                  <a:srgbClr val="0F1B2D"/>
                </a:solidFill>
                <a:latin typeface="Noto Sans"/>
              </a:rPr>
              <a:t>Review and validate</a:t>
            </a:r>
          </a:p>
        </p:txBody>
      </p:sp>
      <p:sp>
        <p:nvSpPr>
          <p:cNvPr id="59" name="TextBox 58"/>
          <p:cNvSpPr txBox="1"/>
          <p:nvPr/>
        </p:nvSpPr>
        <p:spPr>
          <a:xfrm>
            <a:off x="6291072" y="5294376"/>
            <a:ext cx="2112264" cy="182880"/>
          </a:xfrm>
          <a:prstGeom prst="rect">
            <a:avLst/>
          </a:prstGeom>
          <a:noFill/>
        </p:spPr>
        <p:txBody>
          <a:bodyPr wrap="square" lIns="0" tIns="0" rIns="0" bIns="0" anchor="t">
            <a:spAutoFit/>
          </a:bodyPr>
          <a:lstStyle/>
          <a:p>
            <a:pPr algn="l"/>
            <a:r>
              <a:rPr sz="1030" b="0">
                <a:solidFill>
                  <a:srgbClr val="3B4656"/>
                </a:solidFill>
                <a:latin typeface="Noto Sans"/>
              </a:rPr>
              <a:t>Schema + expert approval</a:t>
            </a:r>
          </a:p>
        </p:txBody>
      </p:sp>
      <p:sp>
        <p:nvSpPr>
          <p:cNvPr id="60" name="Rounded Rectangle 59"/>
          <p:cNvSpPr/>
          <p:nvPr/>
        </p:nvSpPr>
        <p:spPr>
          <a:xfrm>
            <a:off x="8924544" y="4864608"/>
            <a:ext cx="2679192" cy="768096"/>
          </a:xfrm>
          <a:prstGeom prst="roundRect">
            <a:avLst>
              <a:gd name="adj" fmla="val 8000"/>
            </a:avLst>
          </a:prstGeom>
          <a:solidFill>
            <a:srgbClr val="D6EB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9070848" y="4965192"/>
            <a:ext cx="2386584" cy="237744"/>
          </a:xfrm>
          <a:prstGeom prst="rect">
            <a:avLst/>
          </a:prstGeom>
          <a:noFill/>
        </p:spPr>
        <p:txBody>
          <a:bodyPr wrap="square" lIns="0" tIns="0" rIns="0" bIns="0" anchor="t">
            <a:spAutoFit/>
          </a:bodyPr>
          <a:lstStyle/>
          <a:p>
            <a:pPr algn="l"/>
            <a:r>
              <a:rPr sz="1330" b="1">
                <a:solidFill>
                  <a:srgbClr val="0F1B2D"/>
                </a:solidFill>
                <a:latin typeface="Noto Sans"/>
              </a:rPr>
              <a:t>Publish one version</a:t>
            </a:r>
          </a:p>
        </p:txBody>
      </p:sp>
      <p:sp>
        <p:nvSpPr>
          <p:cNvPr id="62" name="TextBox 61"/>
          <p:cNvSpPr txBox="1"/>
          <p:nvPr/>
        </p:nvSpPr>
        <p:spPr>
          <a:xfrm>
            <a:off x="9070848" y="5294376"/>
            <a:ext cx="2386584" cy="182880"/>
          </a:xfrm>
          <a:prstGeom prst="rect">
            <a:avLst/>
          </a:prstGeom>
          <a:noFill/>
        </p:spPr>
        <p:txBody>
          <a:bodyPr wrap="square" lIns="0" tIns="0" rIns="0" bIns="0" anchor="t">
            <a:spAutoFit/>
          </a:bodyPr>
          <a:lstStyle/>
          <a:p>
            <a:pPr algn="l"/>
            <a:r>
              <a:rPr sz="1030" b="0">
                <a:solidFill>
                  <a:srgbClr val="3B4656"/>
                </a:solidFill>
                <a:latin typeface="Noto Sans"/>
              </a:rPr>
              <a:t>Reused across all users</a:t>
            </a:r>
          </a:p>
        </p:txBody>
      </p:sp>
      <p:cxnSp>
        <p:nvCxnSpPr>
          <p:cNvPr id="63" name="Connector 62"/>
          <p:cNvCxnSpPr/>
          <p:nvPr/>
        </p:nvCxnSpPr>
        <p:spPr>
          <a:xfrm>
            <a:off x="3054096" y="5257800"/>
            <a:ext cx="210312" cy="0"/>
          </a:xfrm>
          <a:prstGeom prst="line">
            <a:avLst/>
          </a:prstGeom>
          <a:ln w="22860">
            <a:solidFill>
              <a:srgbClr val="0F1B2D"/>
            </a:solidFill>
          </a:ln>
        </p:spPr>
        <p:style>
          <a:lnRef idx="2">
            <a:schemeClr val="accent1"/>
          </a:lnRef>
          <a:fillRef idx="0">
            <a:schemeClr val="accent1"/>
          </a:fillRef>
          <a:effectRef idx="1">
            <a:schemeClr val="accent1"/>
          </a:effectRef>
          <a:fontRef idx="minor">
            <a:schemeClr val="tx1"/>
          </a:fontRef>
        </p:style>
      </p:cxnSp>
      <p:sp>
        <p:nvSpPr>
          <p:cNvPr id="64" name="Chevron 63"/>
          <p:cNvSpPr/>
          <p:nvPr/>
        </p:nvSpPr>
        <p:spPr>
          <a:xfrm>
            <a:off x="3227832" y="5198364"/>
            <a:ext cx="105156" cy="118872"/>
          </a:xfrm>
          <a:prstGeom prst="chevron">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5" name="Connector 64"/>
          <p:cNvCxnSpPr/>
          <p:nvPr/>
        </p:nvCxnSpPr>
        <p:spPr>
          <a:xfrm>
            <a:off x="5833872" y="5257800"/>
            <a:ext cx="210312" cy="0"/>
          </a:xfrm>
          <a:prstGeom prst="line">
            <a:avLst/>
          </a:prstGeom>
          <a:ln w="22860">
            <a:solidFill>
              <a:srgbClr val="0F1B2D"/>
            </a:solidFill>
          </a:ln>
        </p:spPr>
        <p:style>
          <a:lnRef idx="2">
            <a:schemeClr val="accent1"/>
          </a:lnRef>
          <a:fillRef idx="0">
            <a:schemeClr val="accent1"/>
          </a:fillRef>
          <a:effectRef idx="1">
            <a:schemeClr val="accent1"/>
          </a:effectRef>
          <a:fontRef idx="minor">
            <a:schemeClr val="tx1"/>
          </a:fontRef>
        </p:style>
      </p:cxnSp>
      <p:sp>
        <p:nvSpPr>
          <p:cNvPr id="66" name="Chevron 65"/>
          <p:cNvSpPr/>
          <p:nvPr/>
        </p:nvSpPr>
        <p:spPr>
          <a:xfrm>
            <a:off x="6007608" y="5198364"/>
            <a:ext cx="105156" cy="118872"/>
          </a:xfrm>
          <a:prstGeom prst="chevron">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67" name="Connector 66"/>
          <p:cNvCxnSpPr/>
          <p:nvPr/>
        </p:nvCxnSpPr>
        <p:spPr>
          <a:xfrm>
            <a:off x="8613648" y="5257800"/>
            <a:ext cx="210312" cy="0"/>
          </a:xfrm>
          <a:prstGeom prst="line">
            <a:avLst/>
          </a:prstGeom>
          <a:ln w="22860">
            <a:solidFill>
              <a:srgbClr val="0F1B2D"/>
            </a:solidFill>
          </a:ln>
        </p:spPr>
        <p:style>
          <a:lnRef idx="2">
            <a:schemeClr val="accent1"/>
          </a:lnRef>
          <a:fillRef idx="0">
            <a:schemeClr val="accent1"/>
          </a:fillRef>
          <a:effectRef idx="1">
            <a:schemeClr val="accent1"/>
          </a:effectRef>
          <a:fontRef idx="minor">
            <a:schemeClr val="tx1"/>
          </a:fontRef>
        </p:style>
      </p:cxnSp>
      <p:sp>
        <p:nvSpPr>
          <p:cNvPr id="68" name="Chevron 67"/>
          <p:cNvSpPr/>
          <p:nvPr/>
        </p:nvSpPr>
        <p:spPr>
          <a:xfrm>
            <a:off x="8787384" y="5198364"/>
            <a:ext cx="105156" cy="118872"/>
          </a:xfrm>
          <a:prstGeom prst="chevron">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ounded Rectangle 68"/>
          <p:cNvSpPr/>
          <p:nvPr/>
        </p:nvSpPr>
        <p:spPr>
          <a:xfrm>
            <a:off x="585216" y="5879592"/>
            <a:ext cx="11018520" cy="594360"/>
          </a:xfrm>
          <a:prstGeom prst="roundRect">
            <a:avLst>
              <a:gd name="adj" fmla="val 3500"/>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795528" y="6016752"/>
            <a:ext cx="1426464" cy="228600"/>
          </a:xfrm>
          <a:prstGeom prst="rect">
            <a:avLst/>
          </a:prstGeom>
          <a:noFill/>
        </p:spPr>
        <p:txBody>
          <a:bodyPr wrap="square" lIns="0" tIns="0" rIns="0" bIns="0" anchor="t">
            <a:spAutoFit/>
          </a:bodyPr>
          <a:lstStyle/>
          <a:p>
            <a:pPr algn="l"/>
            <a:r>
              <a:rPr sz="1100" b="1">
                <a:solidFill>
                  <a:srgbClr val="FFFFFF"/>
                </a:solidFill>
                <a:latin typeface="Noto Sans"/>
              </a:rPr>
              <a:t>GUARDRAILS</a:t>
            </a:r>
          </a:p>
        </p:txBody>
      </p:sp>
      <p:cxnSp>
        <p:nvCxnSpPr>
          <p:cNvPr id="71" name="Connector 70"/>
          <p:cNvCxnSpPr/>
          <p:nvPr/>
        </p:nvCxnSpPr>
        <p:spPr>
          <a:xfrm>
            <a:off x="2240280" y="5989320"/>
            <a:ext cx="0" cy="374904"/>
          </a:xfrm>
          <a:prstGeom prst="line">
            <a:avLst/>
          </a:prstGeom>
          <a:ln w="10160">
            <a:solidFill>
              <a:srgbClr val="5A6474"/>
            </a:solidFill>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2478024" y="6007608"/>
            <a:ext cx="2743200" cy="320040"/>
          </a:xfrm>
          <a:prstGeom prst="rect">
            <a:avLst/>
          </a:prstGeom>
          <a:noFill/>
        </p:spPr>
        <p:txBody>
          <a:bodyPr wrap="square" lIns="0" tIns="0" rIns="0" bIns="0" anchor="t">
            <a:spAutoFit/>
          </a:bodyPr>
          <a:lstStyle/>
          <a:p>
            <a:pPr algn="l"/>
            <a:r>
              <a:rPr sz="1130" b="0">
                <a:solidFill>
                  <a:srgbClr val="FFFFFF"/>
                </a:solidFill>
                <a:latin typeface="Noto Sans"/>
              </a:rPr>
              <a:t>EU residency + least-privilege IAM</a:t>
            </a:r>
          </a:p>
        </p:txBody>
      </p:sp>
      <p:cxnSp>
        <p:nvCxnSpPr>
          <p:cNvPr id="73" name="Connector 72"/>
          <p:cNvCxnSpPr/>
          <p:nvPr/>
        </p:nvCxnSpPr>
        <p:spPr>
          <a:xfrm>
            <a:off x="5257800" y="5989320"/>
            <a:ext cx="0" cy="374904"/>
          </a:xfrm>
          <a:prstGeom prst="line">
            <a:avLst/>
          </a:prstGeom>
          <a:ln w="10160">
            <a:solidFill>
              <a:srgbClr val="5A6474"/>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5495544" y="6007608"/>
            <a:ext cx="2496312" cy="320040"/>
          </a:xfrm>
          <a:prstGeom prst="rect">
            <a:avLst/>
          </a:prstGeom>
          <a:noFill/>
        </p:spPr>
        <p:txBody>
          <a:bodyPr wrap="square" lIns="0" tIns="0" rIns="0" bIns="0" anchor="t">
            <a:spAutoFit/>
          </a:bodyPr>
          <a:lstStyle/>
          <a:p>
            <a:pPr algn="l"/>
            <a:r>
              <a:rPr sz="1130" b="0">
                <a:solidFill>
                  <a:srgbClr val="FFFFFF"/>
                </a:solidFill>
                <a:latin typeface="Noto Sans"/>
              </a:rPr>
              <a:t>SLOs, logs + cost alerts</a:t>
            </a:r>
          </a:p>
        </p:txBody>
      </p:sp>
      <p:cxnSp>
        <p:nvCxnSpPr>
          <p:cNvPr id="75" name="Connector 74"/>
          <p:cNvCxnSpPr/>
          <p:nvPr/>
        </p:nvCxnSpPr>
        <p:spPr>
          <a:xfrm>
            <a:off x="8092440" y="5989320"/>
            <a:ext cx="0" cy="374904"/>
          </a:xfrm>
          <a:prstGeom prst="line">
            <a:avLst/>
          </a:prstGeom>
          <a:ln w="10160">
            <a:solidFill>
              <a:srgbClr val="5A6474"/>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8311896" y="6007608"/>
            <a:ext cx="3035808" cy="320040"/>
          </a:xfrm>
          <a:prstGeom prst="rect">
            <a:avLst/>
          </a:prstGeom>
          <a:noFill/>
        </p:spPr>
        <p:txBody>
          <a:bodyPr wrap="square" lIns="0" tIns="0" rIns="0" bIns="0" anchor="t">
            <a:spAutoFit/>
          </a:bodyPr>
          <a:lstStyle/>
          <a:p>
            <a:pPr algn="l"/>
            <a:r>
              <a:rPr sz="1130" b="0">
                <a:solidFill>
                  <a:srgbClr val="FFFFFF"/>
                </a:solidFill>
                <a:latin typeface="Noto Sans"/>
              </a:rPr>
              <a:t>Review gates + safe rollbacks</a:t>
            </a:r>
          </a:p>
        </p:txBody>
      </p:sp>
      <p:sp>
        <p:nvSpPr>
          <p:cNvPr id="77" name="TextBox 76"/>
          <p:cNvSpPr txBox="1"/>
          <p:nvPr/>
        </p:nvSpPr>
        <p:spPr>
          <a:xfrm>
            <a:off x="594360" y="6565392"/>
            <a:ext cx="9601200" cy="164592"/>
          </a:xfrm>
          <a:prstGeom prst="rect">
            <a:avLst/>
          </a:prstGeom>
          <a:noFill/>
        </p:spPr>
        <p:txBody>
          <a:bodyPr wrap="square" lIns="0" tIns="0" rIns="0" bIns="0" anchor="t">
            <a:spAutoFit/>
          </a:bodyPr>
          <a:lstStyle/>
          <a:p>
            <a:pPr algn="l"/>
            <a:r>
              <a:rPr sz="900" b="0">
                <a:solidFill>
                  <a:srgbClr val="5A6474"/>
                </a:solidFill>
                <a:latin typeface="Noto Sans"/>
              </a:rPr>
              <a:t>Rollout: launch in one region → add regional failover and enterprise SSO when justified by demand.</a:t>
            </a:r>
          </a:p>
        </p:txBody>
      </p:sp>
      <p:sp>
        <p:nvSpPr>
          <p:cNvPr id="78" name="TextBox 77"/>
          <p:cNvSpPr txBox="1"/>
          <p:nvPr/>
        </p:nvSpPr>
        <p:spPr>
          <a:xfrm>
            <a:off x="10972800" y="6547104"/>
            <a:ext cx="603504" cy="182880"/>
          </a:xfrm>
          <a:prstGeom prst="rect">
            <a:avLst/>
          </a:prstGeom>
          <a:noFill/>
        </p:spPr>
        <p:txBody>
          <a:bodyPr wrap="square" lIns="0" tIns="0" rIns="0" bIns="0" anchor="t">
            <a:spAutoFit/>
          </a:bodyPr>
          <a:lstStyle/>
          <a:p>
            <a:pPr algn="r"/>
            <a:r>
              <a:rPr sz="919" b="1">
                <a:solidFill>
                  <a:srgbClr val="5A6474"/>
                </a:solidFill>
                <a:latin typeface="Noto Sans"/>
              </a:rPr>
              <a:t>01 / 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tkinson Hyperlegible Nex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tkinson Hyperlegible Nex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18760E7A0A94143BBEC27D16016415A" ma:contentTypeVersion="12" ma:contentTypeDescription="Create a new document." ma:contentTypeScope="" ma:versionID="3e1146a7d087b4caf0f2f0827912332f">
  <xsd:schema xmlns:xsd="http://www.w3.org/2001/XMLSchema" xmlns:xs="http://www.w3.org/2001/XMLSchema" xmlns:p="http://schemas.microsoft.com/office/2006/metadata/properties" xmlns:ns3="1fa6e5a6-829c-4781-a3ea-170c3654358c" targetNamespace="http://schemas.microsoft.com/office/2006/metadata/properties" ma:root="true" ma:fieldsID="09a8faa9749ba3d485b6d129e5255aa7" ns3:_="">
    <xsd:import namespace="1fa6e5a6-829c-4781-a3ea-170c3654358c"/>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_activity" minOccurs="0"/>
                <xsd:element ref="ns3:MediaServiceSearchProperties" minOccurs="0"/>
                <xsd:element ref="ns3:MediaServiceDateTaken" minOccurs="0"/>
                <xsd:element ref="ns3:MediaServiceSystemTags" minOccurs="0"/>
                <xsd:element ref="ns3:MediaServiceOCR" minOccurs="0"/>
                <xsd:element ref="ns3:MediaServiceGenerationTime" minOccurs="0"/>
                <xsd:element ref="ns3:MediaServiceEventHashCode" minOccurs="0"/>
                <xsd:element ref="ns3:MediaLengthInSecond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fa6e5a6-829c-4781-a3ea-170c3654358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1" nillable="true" ma:displayName="_activity" ma:hidden="true" ma:internalName="_activity">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Location" ma:index="19"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1fa6e5a6-829c-4781-a3ea-170c3654358c" xsi:nil="true"/>
  </documentManagement>
</p:properties>
</file>

<file path=customXml/itemProps1.xml><?xml version="1.0" encoding="utf-8"?>
<ds:datastoreItem xmlns:ds="http://schemas.openxmlformats.org/officeDocument/2006/customXml" ds:itemID="{7D7AAEDE-5A82-477E-85D9-FF908D96ADE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fa6e5a6-829c-4781-a3ea-170c3654358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1D11F1C-7620-42FD-BF37-3B0EC4D761C9}">
  <ds:schemaRefs>
    <ds:schemaRef ds:uri="http://schemas.microsoft.com/sharepoint/v3/contenttype/forms"/>
  </ds:schemaRefs>
</ds:datastoreItem>
</file>

<file path=customXml/itemProps3.xml><?xml version="1.0" encoding="utf-8"?>
<ds:datastoreItem xmlns:ds="http://schemas.openxmlformats.org/officeDocument/2006/customXml" ds:itemID="{6C198DE5-6237-46A7-97AC-5EEDE0F69F3E}">
  <ds:schemaRefs>
    <ds:schemaRef ds:uri="http://purl.org/dc/elements/1.1/"/>
    <ds:schemaRef ds:uri="http://schemas.openxmlformats.org/package/2006/metadata/core-properties"/>
    <ds:schemaRef ds:uri="http://schemas.microsoft.com/office/2006/documentManagement/types"/>
    <ds:schemaRef ds:uri="http://schemas.microsoft.com/office/infopath/2007/PartnerControls"/>
    <ds:schemaRef ds:uri="1fa6e5a6-829c-4781-a3ea-170c3654358c"/>
    <ds:schemaRef ds:uri="http://schemas.microsoft.com/office/2006/metadata/properties"/>
    <ds:schemaRef ds:uri="http://www.w3.org/XML/1998/namespace"/>
    <ds:schemaRef ds:uri="http://purl.org/dc/dcmitype/"/>
    <ds:schemaRef ds:uri="http://purl.org/dc/terms/"/>
  </ds:schemaRefs>
</ds:datastoreItem>
</file>

<file path=docProps/app.xml><?xml version="1.0" encoding="utf-8"?>
<Properties xmlns="http://schemas.openxmlformats.org/officeDocument/2006/extended-properties" xmlns:vt="http://schemas.openxmlformats.org/officeDocument/2006/docPropsVTypes">
  <TotalTime>137</TotalTime>
  <Words>730</Words>
  <Application>Microsoft Office PowerPoint</Application>
  <PresentationFormat>Widescreen</PresentationFormat>
  <Paragraphs>75</Paragraphs>
  <Slides>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Atkinson Hyperlegible Next</vt:lpstr>
      <vt:lpstr>Noto Sans</vt:lpstr>
      <vt:lpstr>Office Theme</vt:lpstr>
      <vt:lpstr>PowerPoint Presentation</vt:lpstr>
      <vt:lpstr>PowerPoint Presentation</vt:lpstr>
      <vt:lpstr>PowerPoint Presentation</vt:lpstr>
      <vt:lpstr>PowerPoint Presentation</vt:lpstr>
      <vt:lpstr>PowerPoint Presentation</vt:lpstr>
    </vt:vector>
  </TitlesOfParts>
  <Company>Rooted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Rooted — Localized Financial Education</dc:title>
  <dc:subject>Localized financial education — Innovate with DB 2026</dc:subject>
  <dc:creator>Rooted project presentation</dc:creator>
  <cp:lastModifiedBy>Brenton Lian</cp:lastModifiedBy>
  <cp:revision>5</cp:revision>
  <dcterms:created xsi:type="dcterms:W3CDTF">2026-10-15T17:43:45Z</dcterms:created>
  <dcterms:modified xsi:type="dcterms:W3CDTF">2026-10-15T20:11:53Z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0x010100518760E7A0A94143BBEC27D16016415A</vt:lpwstr>
  </property>
</Properties>
</file>